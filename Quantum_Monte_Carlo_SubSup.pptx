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72" r:id="rId4"/>
    <p:sldId id="258" r:id="rId5"/>
    <p:sldId id="259" r:id="rId6"/>
    <p:sldId id="273" r:id="rId7"/>
    <p:sldId id="260" r:id="rId8"/>
    <p:sldId id="261" r:id="rId9"/>
    <p:sldId id="262" r:id="rId10"/>
    <p:sldId id="274" r:id="rId11"/>
    <p:sldId id="263" r:id="rId12"/>
    <p:sldId id="264" r:id="rId13"/>
    <p:sldId id="275" r:id="rId14"/>
    <p:sldId id="265" r:id="rId15"/>
    <p:sldId id="266" r:id="rId16"/>
    <p:sldId id="277" r:id="rId17"/>
    <p:sldId id="276" r:id="rId18"/>
    <p:sldId id="268" r:id="rId19"/>
    <p:sldId id="269" r:id="rId20"/>
    <p:sldId id="278" r:id="rId21"/>
    <p:sldId id="270" r:id="rId22"/>
    <p:sldId id="271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4167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12648" y="0"/>
            <a:ext cx="1078992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FC3D6"/>
                </a:solidFill>
                <a:latin typeface="Candara"/>
                <a:ea typeface="Candara"/>
                <a:cs typeface="Candara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5666B"/>
                </a:solidFill>
                <a:latin typeface="Candara"/>
                <a:ea typeface="Candara"/>
                <a:cs typeface="Candara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Candara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andara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Candara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andara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Candara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andara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Candara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andara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Candara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27048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kern="0" dirty="0" smtClean="0">
                <a:solidFill>
                  <a:srgbClr val="6FE9F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Project 5 · Fall Semester 2020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527048" y="12801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 smtClean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Quantum </a:t>
            </a:r>
            <a:r>
              <a:rPr lang="en-US" sz="36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Monte Carlo of Confined Electrons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1527048" y="2103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FE9F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Variational Monte Carlo for a two-electron quantum dot in three dimensions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527048" y="59436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000" dirty="0">
                <a:solidFill>
                  <a:srgbClr val="CFE3EE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Group: </a:t>
            </a:r>
            <a:r>
              <a:rPr lang="en-US" sz="2000" dirty="0" smtClean="0">
                <a:solidFill>
                  <a:srgbClr val="CFE3EE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 </a:t>
            </a:r>
            <a:r>
              <a:rPr lang="en-US" sz="2000" dirty="0">
                <a:solidFill>
                  <a:srgbClr val="CFE3EE"/>
                </a:solidFill>
                <a:latin typeface="Candara" pitchFamily="34" charset="0"/>
                <a:cs typeface="Candara" pitchFamily="34" charset="-120"/>
              </a:rPr>
              <a:t>1</a:t>
            </a:r>
            <a:r>
              <a:rPr lang="en-US" sz="2000" dirty="0" smtClean="0">
                <a:solidFill>
                  <a:srgbClr val="CFE3EE"/>
                </a:solidFill>
                <a:latin typeface="Candara" pitchFamily="34" charset="0"/>
                <a:cs typeface="Candara" pitchFamily="34" charset="-120"/>
              </a:rPr>
              <a:t>] </a:t>
            </a:r>
            <a:r>
              <a:rPr lang="en-US" sz="2000" dirty="0" smtClean="0">
                <a:solidFill>
                  <a:srgbClr val="CFE3EE"/>
                </a:solidFill>
                <a:latin typeface="Candara" pitchFamily="34" charset="0"/>
                <a:cs typeface="Candara" pitchFamily="34" charset="-120"/>
              </a:rPr>
              <a:t>Amey S. </a:t>
            </a:r>
            <a:r>
              <a:rPr lang="en-US" sz="2000" dirty="0" smtClean="0">
                <a:solidFill>
                  <a:srgbClr val="CFE3EE"/>
                </a:solidFill>
                <a:latin typeface="Candara" pitchFamily="34" charset="0"/>
                <a:cs typeface="Candara" pitchFamily="34" charset="-120"/>
              </a:rPr>
              <a:t>Yadav    2</a:t>
            </a:r>
            <a:r>
              <a:rPr lang="en-US" sz="2000" dirty="0" smtClean="0">
                <a:solidFill>
                  <a:srgbClr val="CFE3EE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] </a:t>
            </a:r>
            <a:r>
              <a:rPr lang="en-US" sz="2000" dirty="0" err="1">
                <a:solidFill>
                  <a:srgbClr val="CFE3EE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Atharva</a:t>
            </a:r>
            <a:r>
              <a:rPr lang="en-US" sz="2000" dirty="0">
                <a:solidFill>
                  <a:srgbClr val="CFE3EE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</a:t>
            </a:r>
            <a:r>
              <a:rPr lang="en-US" sz="2000" dirty="0" err="1">
                <a:solidFill>
                  <a:srgbClr val="CFE3EE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Goyal</a:t>
            </a:r>
            <a:r>
              <a:rPr lang="en-US" sz="2000" dirty="0">
                <a:solidFill>
                  <a:srgbClr val="CFE3EE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721608" y="3063240"/>
            <a:ext cx="4754880" cy="2011680"/>
          </a:xfrm>
          <a:custGeom>
            <a:avLst/>
            <a:gdLst/>
            <a:ahLst/>
            <a:cxnLst/>
            <a:rect l="l" t="t" r="r" b="b"/>
            <a:pathLst>
              <a:path w="4754880" h="2011680">
                <a:moveTo>
                  <a:pt x="0" y="0"/>
                </a:moveTo>
                <a:lnTo>
                  <a:pt x="118872" y="196139"/>
                </a:lnTo>
                <a:lnTo>
                  <a:pt x="237744" y="382219"/>
                </a:lnTo>
                <a:lnTo>
                  <a:pt x="356616" y="558241"/>
                </a:lnTo>
                <a:lnTo>
                  <a:pt x="475488" y="724205"/>
                </a:lnTo>
                <a:lnTo>
                  <a:pt x="594360" y="880110"/>
                </a:lnTo>
                <a:lnTo>
                  <a:pt x="713232" y="1025957"/>
                </a:lnTo>
                <a:lnTo>
                  <a:pt x="832104" y="1161745"/>
                </a:lnTo>
                <a:lnTo>
                  <a:pt x="950976" y="1287475"/>
                </a:lnTo>
                <a:lnTo>
                  <a:pt x="1069848" y="1403147"/>
                </a:lnTo>
                <a:lnTo>
                  <a:pt x="1188720" y="1508760"/>
                </a:lnTo>
                <a:lnTo>
                  <a:pt x="1307592" y="1604315"/>
                </a:lnTo>
                <a:lnTo>
                  <a:pt x="1426464" y="1689811"/>
                </a:lnTo>
                <a:lnTo>
                  <a:pt x="1545336" y="1765249"/>
                </a:lnTo>
                <a:lnTo>
                  <a:pt x="1664208" y="1830629"/>
                </a:lnTo>
                <a:lnTo>
                  <a:pt x="1783080" y="1885950"/>
                </a:lnTo>
                <a:lnTo>
                  <a:pt x="1901952" y="1931213"/>
                </a:lnTo>
                <a:lnTo>
                  <a:pt x="2020824" y="1966417"/>
                </a:lnTo>
                <a:lnTo>
                  <a:pt x="2139696" y="1991563"/>
                </a:lnTo>
                <a:lnTo>
                  <a:pt x="2258568" y="2006651"/>
                </a:lnTo>
                <a:lnTo>
                  <a:pt x="2377440" y="2011680"/>
                </a:lnTo>
                <a:lnTo>
                  <a:pt x="2496312" y="2006651"/>
                </a:lnTo>
                <a:lnTo>
                  <a:pt x="2615184" y="1991563"/>
                </a:lnTo>
                <a:lnTo>
                  <a:pt x="2734056" y="1966417"/>
                </a:lnTo>
                <a:lnTo>
                  <a:pt x="2852928" y="1931213"/>
                </a:lnTo>
                <a:lnTo>
                  <a:pt x="2971800" y="1885950"/>
                </a:lnTo>
                <a:lnTo>
                  <a:pt x="3090672" y="1830629"/>
                </a:lnTo>
                <a:lnTo>
                  <a:pt x="3209544" y="1765249"/>
                </a:lnTo>
                <a:lnTo>
                  <a:pt x="3328416" y="1689811"/>
                </a:lnTo>
                <a:lnTo>
                  <a:pt x="3447288" y="1604315"/>
                </a:lnTo>
                <a:lnTo>
                  <a:pt x="3566160" y="1508760"/>
                </a:lnTo>
                <a:lnTo>
                  <a:pt x="3685032" y="1403147"/>
                </a:lnTo>
                <a:lnTo>
                  <a:pt x="3803904" y="1287475"/>
                </a:lnTo>
                <a:lnTo>
                  <a:pt x="3922776" y="1161745"/>
                </a:lnTo>
                <a:lnTo>
                  <a:pt x="4041648" y="1025957"/>
                </a:lnTo>
                <a:lnTo>
                  <a:pt x="4160520" y="880110"/>
                </a:lnTo>
                <a:lnTo>
                  <a:pt x="4279392" y="724205"/>
                </a:lnTo>
                <a:lnTo>
                  <a:pt x="4398264" y="558241"/>
                </a:lnTo>
                <a:lnTo>
                  <a:pt x="4517136" y="382219"/>
                </a:lnTo>
                <a:lnTo>
                  <a:pt x="4636008" y="196139"/>
                </a:lnTo>
                <a:lnTo>
                  <a:pt x="4754880" y="0"/>
                </a:lnTo>
              </a:path>
            </a:pathLst>
          </a:custGeom>
          <a:solidFill>
            <a:srgbClr val="0E4C6B">
              <a:alpha val="0"/>
            </a:srgbClr>
          </a:solidFill>
          <a:ln w="38100">
            <a:solidFill>
              <a:srgbClr val="8EE3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66360" y="4453128"/>
            <a:ext cx="438912" cy="438912"/>
          </a:xfrm>
          <a:prstGeom prst="ellipse">
            <a:avLst/>
          </a:prstGeom>
          <a:solidFill>
            <a:srgbClr val="5FD3F3"/>
          </a:solidFill>
          <a:ln w="12700">
            <a:solidFill>
              <a:srgbClr val="5FD3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66360" y="4453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2033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e</a:t>
            </a:r>
            <a:r>
              <a:rPr lang="en-US" sz="1400" b="1" baseline="-25000" dirty="0">
                <a:solidFill>
                  <a:srgbClr val="062033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92824" y="4453128"/>
            <a:ext cx="438912" cy="438912"/>
          </a:xfrm>
          <a:prstGeom prst="ellipse">
            <a:avLst/>
          </a:prstGeom>
          <a:solidFill>
            <a:srgbClr val="5FD3F3"/>
          </a:solidFill>
          <a:ln w="12700">
            <a:solidFill>
              <a:srgbClr val="5FD3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92824" y="4453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2033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e</a:t>
            </a:r>
            <a:r>
              <a:rPr lang="en-US" sz="1400" b="1" baseline="-25000" dirty="0">
                <a:solidFill>
                  <a:srgbClr val="062033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87568" y="4672584"/>
            <a:ext cx="822960" cy="0"/>
          </a:xfrm>
          <a:prstGeom prst="line">
            <a:avLst/>
          </a:prstGeom>
          <a:noFill/>
          <a:ln w="25400">
            <a:solidFill>
              <a:srgbClr val="CFE3EE"/>
            </a:solidFill>
            <a:prstDash val="dash"/>
            <a:headEnd type="triangle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5733288" y="4206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EE3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1/r</a:t>
            </a:r>
            <a:r>
              <a:rPr lang="en-US" sz="1600" baseline="-25000" dirty="0">
                <a:solidFill>
                  <a:srgbClr val="8EE3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5303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EE3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V = ½ ω</a:t>
            </a:r>
            <a:r>
              <a:rPr lang="en-US" sz="1600" baseline="30000" dirty="0">
                <a:solidFill>
                  <a:srgbClr val="8EE3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1600" dirty="0">
                <a:solidFill>
                  <a:srgbClr val="8EE3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r</a:t>
            </a:r>
            <a:r>
              <a:rPr lang="en-US" sz="1600" baseline="30000" dirty="0">
                <a:solidFill>
                  <a:srgbClr val="8EE3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12648" y="0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Index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12648" y="960120"/>
            <a:ext cx="10972800" cy="896112"/>
          </a:xfrm>
          <a:prstGeom prst="rect">
            <a:avLst/>
          </a:prstGeom>
          <a:solidFill>
            <a:srgbClr val="071B2B">
              <a:alpha val="72000"/>
            </a:srgbClr>
          </a:solidFill>
          <a:ln w="12700">
            <a:solidFill>
              <a:srgbClr val="2F9FC4">
                <a:alpha val="7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1155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5FD3F3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21615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472184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" y="1947672"/>
            <a:ext cx="10972800" cy="896112"/>
          </a:xfrm>
          <a:prstGeom prst="rect">
            <a:avLst/>
          </a:prstGeom>
          <a:solidFill>
            <a:srgbClr val="071B2B">
              <a:alpha val="72000"/>
            </a:srgbClr>
          </a:solidFill>
          <a:ln w="12700">
            <a:solidFill>
              <a:srgbClr val="2F9FC4">
                <a:alpha val="7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1031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5FD3F3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220370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Theory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2459736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" y="2935224"/>
            <a:ext cx="10972800" cy="896112"/>
          </a:xfrm>
          <a:prstGeom prst="rect">
            <a:avLst/>
          </a:prstGeom>
          <a:solidFill>
            <a:srgbClr val="071B2B">
              <a:alpha val="72000"/>
            </a:srgbClr>
          </a:solidFill>
          <a:ln w="12700">
            <a:solidFill>
              <a:srgbClr val="2F9FC4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09067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5FD3F3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3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3221151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Methodology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3447288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" y="3922776"/>
            <a:ext cx="10972800" cy="896112"/>
          </a:xfrm>
          <a:prstGeom prst="rect">
            <a:avLst/>
          </a:prstGeom>
          <a:solidFill>
            <a:srgbClr val="071B2B">
              <a:alpha val="72000"/>
            </a:srgbClr>
          </a:solidFill>
          <a:ln w="12700">
            <a:solidFill>
              <a:srgbClr val="2F9FC4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07822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5FD3F3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4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4181973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Project Tasks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4434840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" y="4910328"/>
            <a:ext cx="10972800" cy="896112"/>
          </a:xfrm>
          <a:prstGeom prst="rect">
            <a:avLst/>
          </a:prstGeom>
          <a:solidFill>
            <a:srgbClr val="071B2B">
              <a:alpha val="72000"/>
            </a:srgbClr>
          </a:solidFill>
          <a:ln w="12700">
            <a:solidFill>
              <a:srgbClr val="2F9FC4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506577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5FD3F3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5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1828800" y="5202936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Results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828800" y="5422392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FC3D6"/>
                </a:solidFill>
                <a:latin typeface="Candara"/>
                <a:ea typeface="Candara"/>
                <a:cs typeface="Candara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1448" y="1600200"/>
            <a:ext cx="73152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0" b="1">
                <a:solidFill>
                  <a:srgbClr val="6FE9F0"/>
                </a:solidFill>
                <a:latin typeface="Candar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4248" y="292608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ndara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4248" y="39319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0">
                <a:solidFill>
                  <a:srgbClr val="CFE3EE"/>
                </a:solidFill>
                <a:latin typeface="Candara"/>
              </a:rPr>
              <a:t>Aim, goals and the two-electron quantum dot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12648" y="279860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Problem </a:t>
            </a:r>
            <a:r>
              <a:rPr lang="en-US" sz="3000" b="1" dirty="0" smtClean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Statement</a:t>
            </a:r>
            <a:r>
              <a:rPr lang="en-US" dirty="0" smtClean="0"/>
              <a:t>                                   </a:t>
            </a:r>
            <a:br>
              <a:rPr lang="en-US" dirty="0" smtClean="0"/>
            </a:br>
            <a:r>
              <a:rPr lang="en-US" dirty="0"/>
              <a:t> </a:t>
            </a:r>
            <a:r>
              <a:rPr lang="en-US" dirty="0" smtClean="0"/>
              <a:t>                                                                      </a:t>
            </a:r>
            <a:r>
              <a:rPr lang="en-US" sz="2400" dirty="0" smtClean="0"/>
              <a:t>WE CALCULATE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26364" y="14322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dirty="0">
                <a:solidFill>
                  <a:srgbClr val="5FD3F3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The aim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26364" y="2097845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Use </a:t>
            </a:r>
            <a:r>
              <a:rPr lang="en-US" sz="20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Variational Monte Carlo (VMC)</a:t>
            </a:r>
            <a:r>
              <a:rPr lang="en-US" sz="2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to study </a:t>
            </a:r>
            <a:r>
              <a:rPr lang="en-US" sz="20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two electrons</a:t>
            </a:r>
            <a:r>
              <a:rPr lang="en-US" sz="2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confined in a three-dimensional harmonic oscillator trap, a </a:t>
            </a:r>
            <a:r>
              <a:rPr lang="en-US" sz="20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quantum dot</a:t>
            </a:r>
            <a:r>
              <a:rPr lang="en-US" sz="2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, including the repulsive Coulomb interaction.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34290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60720" y="1188720"/>
            <a:ext cx="5824728" cy="1005840"/>
          </a:xfrm>
          <a:prstGeom prst="rect">
            <a:avLst/>
          </a:prstGeom>
          <a:solidFill>
            <a:srgbClr val="071B2B">
              <a:alpha val="72000"/>
            </a:srgbClr>
          </a:solidFill>
          <a:ln w="12700">
            <a:solidFill>
              <a:srgbClr val="2F9FC4">
                <a:alpha val="70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481328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675120" y="13716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Ground-state energy and its variance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760720" y="2359152"/>
            <a:ext cx="5824728" cy="1005840"/>
          </a:xfrm>
          <a:prstGeom prst="rect">
            <a:avLst/>
          </a:prstGeom>
          <a:solidFill>
            <a:srgbClr val="071B2B">
              <a:alpha val="72000"/>
            </a:srgbClr>
          </a:solidFill>
          <a:ln w="12700">
            <a:solidFill>
              <a:srgbClr val="2F9FC4">
                <a:alpha val="7000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6517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675120" y="254203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Mean distance ⟨r</a:t>
            </a:r>
            <a:r>
              <a:rPr lang="en-US" sz="15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12</a:t>
            </a:r>
            <a:r>
              <a:rPr lang="en-US" sz="15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⟩ between the electrons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760720" y="3529584"/>
            <a:ext cx="5824728" cy="1005840"/>
          </a:xfrm>
          <a:prstGeom prst="rect">
            <a:avLst/>
          </a:prstGeom>
          <a:solidFill>
            <a:srgbClr val="071B2B">
              <a:alpha val="72000"/>
            </a:srgbClr>
          </a:solidFill>
          <a:ln w="12700">
            <a:solidFill>
              <a:srgbClr val="2F9FC4">
                <a:alpha val="70000"/>
              </a:srgbClr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3822192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675120" y="371246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Effect of electron correlation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612648" y="4709160"/>
            <a:ext cx="10972800" cy="1005840"/>
          </a:xfrm>
          <a:prstGeom prst="rect">
            <a:avLst/>
          </a:prstGeom>
          <a:solidFill>
            <a:srgbClr val="0E4C6B">
              <a:alpha val="90000"/>
            </a:srgbClr>
          </a:solidFill>
          <a:ln w="12700">
            <a:solidFill>
              <a:srgbClr val="0E4C6B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Quantum dots are a lively research area in condensed matter and materials science, with applications from quantum circuits to solar cells and nanomedicine.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FC3D6"/>
                </a:solidFill>
                <a:latin typeface="Candara"/>
                <a:ea typeface="Candara"/>
                <a:cs typeface="Candara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12648" y="0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The Physical System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12648" y="1143000"/>
            <a:ext cx="10972800" cy="1417320"/>
          </a:xfrm>
          <a:prstGeom prst="rect">
            <a:avLst/>
          </a:prstGeom>
          <a:solidFill>
            <a:srgbClr val="071B2B">
              <a:alpha val="72000"/>
            </a:srgbClr>
          </a:solidFill>
          <a:ln w="12700">
            <a:solidFill>
              <a:srgbClr val="2F9FC4">
                <a:alpha val="7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25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5FD3F3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Total Hamiltonian, N = 2 electrons in 3D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7373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H = −½∇</a:t>
            </a:r>
            <a:r>
              <a:rPr lang="en-US" sz="28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</a:t>
            </a:r>
            <a:r>
              <a:rPr lang="en-US" sz="2800" b="1" baseline="30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28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− ½∇</a:t>
            </a:r>
            <a:r>
              <a:rPr lang="en-US" sz="28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2800" b="1" baseline="30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28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+ ½ω</a:t>
            </a:r>
            <a:r>
              <a:rPr lang="en-US" sz="2800" b="1" baseline="30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28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(r</a:t>
            </a:r>
            <a:r>
              <a:rPr lang="en-US" sz="28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</a:t>
            </a:r>
            <a:r>
              <a:rPr lang="en-US" sz="2800" b="1" baseline="30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28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+ r</a:t>
            </a:r>
            <a:r>
              <a:rPr lang="en-US" sz="28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2800" b="1" baseline="30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28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) + 1/r</a:t>
            </a:r>
            <a:r>
              <a:rPr lang="en-US" sz="28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12648" y="2788920"/>
            <a:ext cx="3474720" cy="2057400"/>
          </a:xfrm>
          <a:prstGeom prst="rect">
            <a:avLst/>
          </a:prstGeom>
          <a:solidFill>
            <a:srgbClr val="071B2B">
              <a:alpha val="72000"/>
            </a:srgbClr>
          </a:solidFill>
          <a:ln w="12700">
            <a:solidFill>
              <a:srgbClr val="2F9FC4">
                <a:alpha val="7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3017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Oscillator part H</a:t>
            </a:r>
            <a:r>
              <a:rPr lang="en-US" sz="18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0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35661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−½∇</a:t>
            </a:r>
            <a:r>
              <a:rPr lang="en-US" sz="1500" baseline="300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15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+ ½ω</a:t>
            </a:r>
            <a:r>
              <a:rPr lang="en-US" sz="1500" baseline="300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15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r</a:t>
            </a:r>
            <a:r>
              <a:rPr lang="en-US" sz="1500" baseline="300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15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for each electron. This part is solved exactly.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61688" y="2788920"/>
            <a:ext cx="3474720" cy="2057400"/>
          </a:xfrm>
          <a:prstGeom prst="rect">
            <a:avLst/>
          </a:prstGeom>
          <a:solidFill>
            <a:srgbClr val="071B2B">
              <a:alpha val="72000"/>
            </a:srgbClr>
          </a:solidFill>
          <a:ln w="12700">
            <a:solidFill>
              <a:srgbClr val="2F9FC4">
                <a:alpha val="7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6008" y="3017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Repulsion H</a:t>
            </a:r>
            <a:r>
              <a:rPr lang="en-US" sz="18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35661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The Coulomb term 1/r</a:t>
            </a:r>
            <a:r>
              <a:rPr lang="en-US" sz="1500" baseline="-250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12</a:t>
            </a:r>
            <a:r>
              <a:rPr lang="en-US" sz="15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, with r</a:t>
            </a:r>
            <a:r>
              <a:rPr lang="en-US" sz="1500" baseline="-250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12</a:t>
            </a:r>
            <a:r>
              <a:rPr lang="en-US" sz="15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= |r</a:t>
            </a:r>
            <a:r>
              <a:rPr lang="en-US" sz="1500" baseline="-250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</a:t>
            </a:r>
            <a:r>
              <a:rPr lang="en-US" sz="15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− r</a:t>
            </a:r>
            <a:r>
              <a:rPr lang="en-US" sz="1500" baseline="-250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15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|, couples the two electrons.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10728" y="2788920"/>
            <a:ext cx="3474720" cy="2057400"/>
          </a:xfrm>
          <a:prstGeom prst="rect">
            <a:avLst/>
          </a:prstGeom>
          <a:solidFill>
            <a:srgbClr val="071B2B">
              <a:alpha val="72000"/>
            </a:srgbClr>
          </a:solidFill>
          <a:ln w="12700">
            <a:solidFill>
              <a:srgbClr val="2F9FC4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3017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Atomic units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35661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ħ = c = e = m = 1, so distances are dimensionless and energies are in a.u.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" y="5074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FC3D6"/>
                </a:solidFill>
                <a:latin typeface="Candara"/>
                <a:ea typeface="Candara"/>
                <a:cs typeface="Candara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1448" y="1600200"/>
            <a:ext cx="73152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0" b="1">
                <a:solidFill>
                  <a:srgbClr val="6FE9F0"/>
                </a:solidFill>
                <a:latin typeface="Candar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4248" y="292608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ndara"/>
              </a:rP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4248" y="39319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0">
                <a:solidFill>
                  <a:srgbClr val="CFE3EE"/>
                </a:solidFill>
                <a:latin typeface="Candara"/>
              </a:rPr>
              <a:t>Benchmark, trial wave functions, local energy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12648" y="0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Non-Interacting </a:t>
            </a:r>
            <a:r>
              <a:rPr lang="en-US" sz="3000" b="1" dirty="0" smtClean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Benchmark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12648" y="1143000"/>
            <a:ext cx="6583680" cy="2103120"/>
          </a:xfrm>
          <a:prstGeom prst="rect">
            <a:avLst/>
          </a:prstGeom>
          <a:solidFill>
            <a:srgbClr val="071B2B">
              <a:alpha val="72000"/>
            </a:srgbClr>
          </a:solidFill>
          <a:ln w="12700">
            <a:solidFill>
              <a:srgbClr val="2F9FC4">
                <a:alpha val="7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25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One electron in the trap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7830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φ</a:t>
            </a:r>
            <a:r>
              <a:rPr lang="en-US" sz="22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000</a:t>
            </a:r>
            <a:r>
              <a:rPr lang="en-US" sz="2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= A exp[−ω(x</a:t>
            </a:r>
            <a:r>
              <a:rPr lang="en-US" sz="2200" b="1" baseline="30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2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+ y</a:t>
            </a:r>
            <a:r>
              <a:rPr lang="en-US" sz="2200" b="1" baseline="30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2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+ z</a:t>
            </a:r>
            <a:r>
              <a:rPr lang="en-US" sz="2200" b="1" baseline="30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2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)/2]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2316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Energy ε = ω(n</a:t>
            </a:r>
            <a:r>
              <a:rPr lang="en-US" sz="1500" baseline="-250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x</a:t>
            </a:r>
            <a:r>
              <a:rPr lang="en-US" sz="15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+ n</a:t>
            </a:r>
            <a:r>
              <a:rPr lang="en-US" sz="1500" baseline="-250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y</a:t>
            </a:r>
            <a:r>
              <a:rPr lang="en-US" sz="15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+ n</a:t>
            </a:r>
            <a:r>
              <a:rPr lang="en-US" sz="1500" baseline="-250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z</a:t>
            </a:r>
            <a:r>
              <a:rPr lang="en-US" sz="15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+ 3/2). The lowest state, n</a:t>
            </a:r>
            <a:r>
              <a:rPr lang="en-US" sz="1500" baseline="-250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x</a:t>
            </a:r>
            <a:r>
              <a:rPr lang="en-US" sz="15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= n</a:t>
            </a:r>
            <a:r>
              <a:rPr lang="en-US" sz="1500" baseline="-250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y</a:t>
            </a:r>
            <a:r>
              <a:rPr lang="en-US" sz="15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= n</a:t>
            </a:r>
            <a:r>
              <a:rPr lang="en-US" sz="1500" baseline="-250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z</a:t>
            </a:r>
            <a:r>
              <a:rPr lang="en-US" sz="15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= 0, has ε = 3ω/2.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" y="3429000"/>
            <a:ext cx="6583680" cy="2103120"/>
          </a:xfrm>
          <a:prstGeom prst="rect">
            <a:avLst/>
          </a:prstGeom>
          <a:solidFill>
            <a:srgbClr val="071B2B">
              <a:alpha val="72000"/>
            </a:srgbClr>
          </a:solidFill>
          <a:ln w="12700">
            <a:solidFill>
              <a:srgbClr val="2F9FC4">
                <a:alpha val="7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611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Two electrons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0690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Φ(r</a:t>
            </a:r>
            <a:r>
              <a:rPr lang="en-US" sz="22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</a:t>
            </a:r>
            <a:r>
              <a:rPr lang="en-US" sz="2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, r</a:t>
            </a:r>
            <a:r>
              <a:rPr lang="en-US" sz="22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2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) = C exp[−ω(r</a:t>
            </a:r>
            <a:r>
              <a:rPr lang="en-US" sz="22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</a:t>
            </a:r>
            <a:r>
              <a:rPr lang="en-US" sz="2200" b="1" baseline="30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2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+ r</a:t>
            </a:r>
            <a:r>
              <a:rPr lang="en-US" sz="22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2200" b="1" baseline="30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2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)/2]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70916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Ground-state energy E = 3ω, exactly 3 a.u. at ω = 1. This is the first benchmark for the code.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406640" y="1143000"/>
            <a:ext cx="4178808" cy="4389120"/>
          </a:xfrm>
          <a:prstGeom prst="rect">
            <a:avLst/>
          </a:prstGeom>
          <a:solidFill>
            <a:srgbClr val="0E4C6B">
              <a:alpha val="90000"/>
            </a:srgbClr>
          </a:solidFill>
          <a:ln w="12700">
            <a:solidFill>
              <a:srgbClr val="0E4C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8096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8EE3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Total spin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17373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800" b="1" dirty="0">
                <a:solidFill>
                  <a:srgbClr val="8EE3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S = 0</a:t>
            </a:r>
            <a:endParaRPr lang="en-US" sz="58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30175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The spatial wave function is symmetric under exchange, so the spin part must be antisymmetric: a singlet.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42062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FE3EE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Both electrons occupy the same lowest orbital, so the Pauli principle requires opposite spins.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FC3D6"/>
                </a:solidFill>
                <a:latin typeface="Candara"/>
                <a:ea typeface="Candara"/>
                <a:cs typeface="Candara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12648" y="0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Trial Wave </a:t>
            </a:r>
            <a:r>
              <a:rPr lang="en-US" sz="3000" b="1" dirty="0" smtClean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Functions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12648" y="1143000"/>
            <a:ext cx="5394960" cy="4297680"/>
          </a:xfrm>
          <a:prstGeom prst="rect">
            <a:avLst/>
          </a:prstGeom>
          <a:solidFill>
            <a:srgbClr val="071B2B">
              <a:alpha val="72000"/>
            </a:srgbClr>
          </a:solidFill>
          <a:ln w="12700">
            <a:solidFill>
              <a:srgbClr val="2F9FC4">
                <a:alpha val="7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5FD3F3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Trial function 1 · no correlation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32688" y="1828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Ψ</a:t>
            </a:r>
            <a:r>
              <a:rPr lang="en-US" sz="22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T1</a:t>
            </a:r>
            <a:r>
              <a:rPr lang="en-US" sz="2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= C exp[−αω(r</a:t>
            </a:r>
            <a:r>
              <a:rPr lang="en-US" sz="22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</a:t>
            </a:r>
            <a:r>
              <a:rPr lang="en-US" sz="2200" b="1" baseline="30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2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+ r</a:t>
            </a:r>
            <a:r>
              <a:rPr lang="en-US" sz="22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2200" b="1" baseline="30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2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)/2]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6517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One variational parameter, α. The function depends only on r</a:t>
            </a:r>
            <a:r>
              <a:rPr lang="en-US" sz="1500" baseline="-250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</a:t>
            </a:r>
            <a:r>
              <a:rPr lang="en-US" sz="15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and r</a:t>
            </a:r>
            <a:r>
              <a:rPr lang="en-US" sz="1500" baseline="-250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15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, so it cannot describe the correlation between the electrons.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32688" y="4663440"/>
            <a:ext cx="3291840" cy="457200"/>
          </a:xfrm>
          <a:prstGeom prst="rect">
            <a:avLst/>
          </a:prstGeom>
          <a:solidFill>
            <a:srgbClr val="5A1F2B">
              <a:alpha val="95000"/>
            </a:srgbClr>
          </a:solidFill>
          <a:ln w="12700">
            <a:solidFill>
              <a:srgbClr val="F6D9B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4663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8B8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Cusp condition: not satisfied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90488" y="1143000"/>
            <a:ext cx="5394960" cy="4297680"/>
          </a:xfrm>
          <a:prstGeom prst="rect">
            <a:avLst/>
          </a:prstGeom>
          <a:solidFill>
            <a:srgbClr val="071B2B">
              <a:alpha val="72000"/>
            </a:srgbClr>
          </a:solidFill>
          <a:ln w="12700">
            <a:solidFill>
              <a:srgbClr val="2F9FC4">
                <a:alpha val="7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10528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5FD3F3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Trial function 2 · Jastrow factor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10528" y="1828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Ψ</a:t>
            </a:r>
            <a:r>
              <a:rPr lang="en-US" sz="22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T2</a:t>
            </a:r>
            <a:r>
              <a:rPr lang="en-US" sz="2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= Ψ</a:t>
            </a:r>
            <a:r>
              <a:rPr lang="en-US" sz="22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T1</a:t>
            </a:r>
            <a:r>
              <a:rPr lang="en-US" sz="2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· exp[r</a:t>
            </a:r>
            <a:r>
              <a:rPr lang="en-US" sz="22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12</a:t>
            </a:r>
            <a:r>
              <a:rPr lang="en-US" sz="2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/ (2(1 + βr</a:t>
            </a:r>
            <a:r>
              <a:rPr lang="en-US" sz="22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12</a:t>
            </a:r>
            <a:r>
              <a:rPr lang="en-US" sz="2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))]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510528" y="26517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Two variational parameters, α and β. As r</a:t>
            </a:r>
            <a:r>
              <a:rPr lang="en-US" sz="1500" baseline="-250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12</a:t>
            </a:r>
            <a:r>
              <a:rPr lang="en-US" sz="15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→ 0 the logarithmic derivative of the Jastrow factor tends to 1/2, the cusp value for electrons with opposite spins.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10528" y="4663440"/>
            <a:ext cx="2743200" cy="457200"/>
          </a:xfrm>
          <a:prstGeom prst="rect">
            <a:avLst/>
          </a:prstGeom>
          <a:solidFill>
            <a:srgbClr val="1F4D35">
              <a:alpha val="95000"/>
            </a:srgbClr>
          </a:solidFill>
          <a:ln w="12700">
            <a:solidFill>
              <a:srgbClr val="CFE8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0528" y="4663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9F0CB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Cusp condition: satisfied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FC3D6"/>
                </a:solidFill>
                <a:latin typeface="Candara"/>
                <a:ea typeface="Candara"/>
                <a:cs typeface="Candara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12648" y="0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Local </a:t>
            </a:r>
            <a:r>
              <a:rPr lang="en-US" sz="3000" b="1" dirty="0" smtClean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Energy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12648" y="1143000"/>
            <a:ext cx="5349240" cy="1920240"/>
          </a:xfrm>
          <a:prstGeom prst="rect">
            <a:avLst/>
          </a:prstGeom>
          <a:solidFill>
            <a:srgbClr val="071B2B">
              <a:alpha val="72000"/>
            </a:srgbClr>
          </a:solidFill>
          <a:ln w="12700">
            <a:solidFill>
              <a:srgbClr val="2F9FC4">
                <a:alpha val="7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86968" y="1325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5FD3F3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Ψ</a:t>
            </a:r>
            <a:r>
              <a:rPr lang="en-US" sz="1200" b="1" kern="0" baseline="-25000" dirty="0">
                <a:solidFill>
                  <a:srgbClr val="5FD3F3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T1</a:t>
            </a:r>
            <a:r>
              <a:rPr lang="en-US" sz="1200" b="1" kern="0" dirty="0">
                <a:solidFill>
                  <a:srgbClr val="5FD3F3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without Coulomb term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6968" y="16916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E</a:t>
            </a:r>
            <a:r>
              <a:rPr lang="en-US" sz="19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L1</a:t>
            </a:r>
            <a:r>
              <a:rPr lang="en-US" sz="19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= ½ω</a:t>
            </a:r>
            <a:r>
              <a:rPr lang="en-US" sz="1900" b="1" baseline="30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19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(r</a:t>
            </a:r>
            <a:r>
              <a:rPr lang="en-US" sz="19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</a:t>
            </a:r>
            <a:r>
              <a:rPr lang="en-US" sz="1900" b="1" baseline="30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19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+ r</a:t>
            </a:r>
            <a:r>
              <a:rPr lang="en-US" sz="19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1900" b="1" baseline="30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19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)(1 − α</a:t>
            </a:r>
            <a:r>
              <a:rPr lang="en-US" sz="1900" b="1" baseline="30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19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) + 3αω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560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Gives the exact result 3ω at α = 1.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36208" y="1143000"/>
            <a:ext cx="5349240" cy="1920240"/>
          </a:xfrm>
          <a:prstGeom prst="rect">
            <a:avLst/>
          </a:prstGeom>
          <a:solidFill>
            <a:srgbClr val="071B2B">
              <a:alpha val="72000"/>
            </a:srgbClr>
          </a:solidFill>
          <a:ln w="12700">
            <a:solidFill>
              <a:srgbClr val="2F9FC4">
                <a:alpha val="7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10528" y="1325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5FD3F3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Ψ</a:t>
            </a:r>
            <a:r>
              <a:rPr lang="en-US" sz="1200" b="1" kern="0" baseline="-25000" dirty="0">
                <a:solidFill>
                  <a:srgbClr val="5FD3F3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T1</a:t>
            </a:r>
            <a:r>
              <a:rPr lang="en-US" sz="1200" b="1" kern="0" dirty="0">
                <a:solidFill>
                  <a:srgbClr val="5FD3F3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with Coulomb repulsion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10528" y="16916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E</a:t>
            </a:r>
            <a:r>
              <a:rPr lang="en-US" sz="19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L1</a:t>
            </a:r>
            <a:r>
              <a:rPr lang="en-US" sz="19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= ½ω</a:t>
            </a:r>
            <a:r>
              <a:rPr lang="en-US" sz="1900" b="1" baseline="30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19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(r</a:t>
            </a:r>
            <a:r>
              <a:rPr lang="en-US" sz="19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</a:t>
            </a:r>
            <a:r>
              <a:rPr lang="en-US" sz="1900" b="1" baseline="30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19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+ r</a:t>
            </a:r>
            <a:r>
              <a:rPr lang="en-US" sz="19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1900" b="1" baseline="30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19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)(1 − α</a:t>
            </a:r>
            <a:r>
              <a:rPr lang="en-US" sz="1900" b="1" baseline="30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19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) + 3αω + 1/r</a:t>
            </a:r>
            <a:r>
              <a:rPr lang="en-US" sz="19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12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510528" y="2560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Baseline for judging the second trial function.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" y="3246120"/>
            <a:ext cx="10972800" cy="1691640"/>
          </a:xfrm>
          <a:prstGeom prst="rect">
            <a:avLst/>
          </a:prstGeom>
          <a:solidFill>
            <a:srgbClr val="071B2B">
              <a:alpha val="72000"/>
            </a:srgbClr>
          </a:solidFill>
          <a:ln w="12700">
            <a:solidFill>
              <a:srgbClr val="2F9FC4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4290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5FD3F3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Ψ</a:t>
            </a:r>
            <a:r>
              <a:rPr lang="en-US" sz="1200" b="1" kern="0" baseline="-25000" dirty="0">
                <a:solidFill>
                  <a:srgbClr val="5FD3F3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T2</a:t>
            </a:r>
            <a:r>
              <a:rPr lang="en-US" sz="1200" b="1" kern="0" dirty="0">
                <a:solidFill>
                  <a:srgbClr val="5FD3F3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with Coulomb repulsion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8404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E</a:t>
            </a:r>
            <a:r>
              <a:rPr lang="en-US" sz="19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L2</a:t>
            </a:r>
            <a:r>
              <a:rPr lang="en-US" sz="19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= E</a:t>
            </a:r>
            <a:r>
              <a:rPr lang="en-US" sz="19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L1</a:t>
            </a:r>
            <a:r>
              <a:rPr lang="en-US" sz="19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+ 1/(2(1 + βr</a:t>
            </a:r>
            <a:r>
              <a:rPr lang="en-US" sz="19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12</a:t>
            </a:r>
            <a:r>
              <a:rPr lang="en-US" sz="19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)</a:t>
            </a:r>
            <a:r>
              <a:rPr lang="en-US" sz="1900" b="1" baseline="30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19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) · [ αωr</a:t>
            </a:r>
            <a:r>
              <a:rPr lang="en-US" sz="19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12</a:t>
            </a:r>
            <a:r>
              <a:rPr lang="en-US" sz="19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− 1/(2(1 + βr</a:t>
            </a:r>
            <a:r>
              <a:rPr lang="en-US" sz="19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12</a:t>
            </a:r>
            <a:r>
              <a:rPr lang="en-US" sz="19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)</a:t>
            </a:r>
            <a:r>
              <a:rPr lang="en-US" sz="1900" b="1" baseline="30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19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) − 2/r</a:t>
            </a:r>
            <a:r>
              <a:rPr lang="en-US" sz="19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12</a:t>
            </a:r>
            <a:r>
              <a:rPr lang="en-US" sz="19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+ 2β/(1 + βr</a:t>
            </a:r>
            <a:r>
              <a:rPr lang="en-US" sz="19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12</a:t>
            </a:r>
            <a:r>
              <a:rPr lang="en-US" sz="19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) ]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" y="5166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FC3D6"/>
                </a:solidFill>
                <a:latin typeface="Candara"/>
                <a:ea typeface="Candara"/>
                <a:cs typeface="Candara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1448" y="1600200"/>
            <a:ext cx="73152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0" b="1">
                <a:solidFill>
                  <a:srgbClr val="6FE9F0"/>
                </a:solidFill>
                <a:latin typeface="Candar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4248" y="292608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ndara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4248" y="39319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0">
                <a:solidFill>
                  <a:srgbClr val="CFE3EE"/>
                </a:solidFill>
                <a:latin typeface="Candara"/>
              </a:rPr>
              <a:t>Variational Monte Carlo and Metropolis sampling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12648" y="0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Variational Monte Carlo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12648" y="1143000"/>
            <a:ext cx="4937760" cy="4480560"/>
          </a:xfrm>
          <a:prstGeom prst="rect">
            <a:avLst/>
          </a:prstGeom>
          <a:solidFill>
            <a:srgbClr val="071B2B">
              <a:alpha val="72000"/>
            </a:srgbClr>
          </a:solidFill>
          <a:ln w="12700">
            <a:solidFill>
              <a:srgbClr val="2F9FC4">
                <a:alpha val="7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5FD3F3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Energy expectation value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7830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⟨H⟩ = ∫ dR Ψ</a:t>
            </a:r>
            <a:r>
              <a:rPr lang="en-US" sz="18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</a:t>
            </a:r>
            <a:r>
              <a:rPr lang="en-US" sz="1800" b="1" baseline="30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*</a:t>
            </a:r>
            <a:r>
              <a:rPr lang="en-US" sz="18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H Ψ</a:t>
            </a:r>
            <a:r>
              <a:rPr lang="en-US" sz="18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</a:t>
            </a:r>
            <a:r>
              <a:rPr lang="en-US" sz="18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/ ∫ dR Ψ</a:t>
            </a:r>
            <a:r>
              <a:rPr lang="en-US" sz="18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</a:t>
            </a:r>
            <a:r>
              <a:rPr lang="en-US" sz="1800" b="1" baseline="30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*</a:t>
            </a:r>
            <a:r>
              <a:rPr lang="en-US" sz="18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Ψ</a:t>
            </a:r>
            <a:r>
              <a:rPr lang="en-US" sz="18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⟨H⟩ = ∫ P(R) E</a:t>
            </a:r>
            <a:r>
              <a:rPr lang="en-US" sz="18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L</a:t>
            </a:r>
            <a:r>
              <a:rPr lang="en-US" sz="18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(R) dR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5468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P(R) = |Ψ</a:t>
            </a:r>
            <a:r>
              <a:rPr lang="en-US" sz="1400" baseline="-250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</a:t>
            </a:r>
            <a:r>
              <a:rPr lang="en-US" sz="14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|</a:t>
            </a:r>
            <a:r>
              <a:rPr lang="en-US" sz="1400" baseline="300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14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/ ∫ |Ψ</a:t>
            </a:r>
            <a:r>
              <a:rPr lang="en-US" sz="1400" baseline="-250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</a:t>
            </a:r>
            <a:r>
              <a:rPr lang="en-US" sz="14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|</a:t>
            </a:r>
            <a:r>
              <a:rPr lang="en-US" sz="1400" baseline="300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14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dR is the probability density, and E</a:t>
            </a:r>
            <a:r>
              <a:rPr lang="en-US" sz="1400" baseline="-250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L</a:t>
            </a:r>
            <a:r>
              <a:rPr lang="en-US" sz="14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= HΨ</a:t>
            </a:r>
            <a:r>
              <a:rPr lang="en-US" sz="1400" baseline="-250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</a:t>
            </a:r>
            <a:r>
              <a:rPr lang="en-US" sz="14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/ Ψ</a:t>
            </a:r>
            <a:r>
              <a:rPr lang="en-US" sz="1400" baseline="-250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</a:t>
            </a:r>
            <a:r>
              <a:rPr lang="en-US" sz="14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is the local energy.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389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σ</a:t>
            </a:r>
            <a:r>
              <a:rPr lang="en-US" sz="1800" b="1" baseline="30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18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= ⟨E</a:t>
            </a:r>
            <a:r>
              <a:rPr lang="en-US" sz="18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L</a:t>
            </a:r>
            <a:r>
              <a:rPr lang="en-US" sz="1800" b="1" baseline="30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18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⟩ − ⟨E</a:t>
            </a:r>
            <a:r>
              <a:rPr lang="en-US" sz="1800" b="1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L</a:t>
            </a:r>
            <a:r>
              <a:rPr lang="en-US" sz="18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⟩</a:t>
            </a:r>
            <a:r>
              <a:rPr lang="en-US" sz="1800" b="1" baseline="30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60720" y="1143000"/>
            <a:ext cx="5824728" cy="3200400"/>
          </a:xfrm>
          <a:prstGeom prst="rect">
            <a:avLst/>
          </a:prstGeom>
          <a:solidFill>
            <a:srgbClr val="071B2B">
              <a:alpha val="72000"/>
            </a:srgbClr>
          </a:solidFill>
          <a:ln w="12700">
            <a:solidFill>
              <a:srgbClr val="2F9FC4">
                <a:alpha val="7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80760" y="13258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Metropolis algorithm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080760" y="1874520"/>
            <a:ext cx="5212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Propose a move R′ = R + δ · r, with r a uniform random number.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Accept it with probability min[1, |Ψ</a:t>
            </a:r>
            <a:r>
              <a:rPr lang="en-US" sz="1600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</a:t>
            </a:r>
            <a:r>
              <a:rPr lang="en-US" sz="16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(R′)|</a:t>
            </a:r>
            <a:r>
              <a:rPr lang="en-US" sz="1600" baseline="30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16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/ |Ψ</a:t>
            </a:r>
            <a:r>
              <a:rPr lang="en-US" sz="1600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</a:t>
            </a:r>
            <a:r>
              <a:rPr lang="en-US" sz="16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(R)|</a:t>
            </a:r>
            <a:r>
              <a:rPr lang="en-US" sz="1600" baseline="30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16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].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Add E</a:t>
            </a:r>
            <a:r>
              <a:rPr lang="en-US" sz="1600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L</a:t>
            </a:r>
            <a:r>
              <a:rPr lang="en-US" sz="16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and E</a:t>
            </a:r>
            <a:r>
              <a:rPr lang="en-US" sz="1600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L</a:t>
            </a:r>
            <a:r>
              <a:rPr lang="en-US" sz="1600" baseline="30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16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to the running sums.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Repeat for all Monte Carlo cycles and average.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60720" y="4526280"/>
            <a:ext cx="5824728" cy="1097280"/>
          </a:xfrm>
          <a:prstGeom prst="rect">
            <a:avLst/>
          </a:prstGeom>
          <a:solidFill>
            <a:srgbClr val="0E4C6B">
              <a:alpha val="90000"/>
            </a:srgbClr>
          </a:solidFill>
          <a:ln w="12700">
            <a:solidFill>
              <a:srgbClr val="0E4C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80760" y="452628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EE3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Tune the step length δ for each α so that about 50 % of the moves are accepted.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FC3D6"/>
                </a:solidFill>
                <a:latin typeface="Candara"/>
                <a:ea typeface="Candara"/>
                <a:cs typeface="Candara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12648" y="0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Algorithm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12648" y="1143000"/>
            <a:ext cx="1920240" cy="2651760"/>
          </a:xfrm>
          <a:prstGeom prst="rect">
            <a:avLst/>
          </a:prstGeom>
          <a:solidFill>
            <a:srgbClr val="071B2B">
              <a:alpha val="72000"/>
            </a:srgbClr>
          </a:solidFill>
          <a:ln w="12700">
            <a:solidFill>
              <a:srgbClr val="2F9FC4">
                <a:alpha val="7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95528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5FD3F3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95528" y="1828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Input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24688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ω, α, β and the number of Monte Carlo cycles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9464" y="2331720"/>
            <a:ext cx="274320" cy="274320"/>
          </a:xfrm>
          <a:prstGeom prst="rightArrow">
            <a:avLst/>
          </a:prstGeom>
          <a:solidFill>
            <a:srgbClr val="5FD3F3"/>
          </a:solidFill>
          <a:ln w="12700">
            <a:solidFill>
              <a:srgbClr val="5FD3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75788" y="1143000"/>
            <a:ext cx="1920240" cy="2651760"/>
          </a:xfrm>
          <a:prstGeom prst="rect">
            <a:avLst/>
          </a:prstGeom>
          <a:solidFill>
            <a:srgbClr val="071B2B">
              <a:alpha val="72000"/>
            </a:srgbClr>
          </a:solidFill>
          <a:ln w="12700">
            <a:solidFill>
              <a:srgbClr val="2F9FC4">
                <a:alpha val="7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58668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5FD3F3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058668" y="1828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Initialise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058668" y="24688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Random start positions R and step length 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32604" y="2331720"/>
            <a:ext cx="274320" cy="274320"/>
          </a:xfrm>
          <a:prstGeom prst="rightArrow">
            <a:avLst/>
          </a:prstGeom>
          <a:solidFill>
            <a:srgbClr val="5FD3F3"/>
          </a:solidFill>
          <a:ln w="12700">
            <a:solidFill>
              <a:srgbClr val="5FD3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38928" y="1143000"/>
            <a:ext cx="1920240" cy="2651760"/>
          </a:xfrm>
          <a:prstGeom prst="rect">
            <a:avLst/>
          </a:prstGeom>
          <a:solidFill>
            <a:srgbClr val="071B2B">
              <a:alpha val="72000"/>
            </a:srgbClr>
          </a:solidFill>
          <a:ln w="12700">
            <a:solidFill>
              <a:srgbClr val="2F9FC4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21808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5FD3F3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1828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Metropolis loop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321808" y="24688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Propose R′, then accept or reject with the |Ψ|</a:t>
            </a:r>
            <a:r>
              <a:rPr lang="en-US" sz="1300" baseline="300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13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ratio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95744" y="2331720"/>
            <a:ext cx="274320" cy="274320"/>
          </a:xfrm>
          <a:prstGeom prst="rightArrow">
            <a:avLst/>
          </a:prstGeom>
          <a:solidFill>
            <a:srgbClr val="5FD3F3"/>
          </a:solidFill>
          <a:ln w="12700">
            <a:solidFill>
              <a:srgbClr val="5FD3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2068" y="1143000"/>
            <a:ext cx="1920240" cy="2651760"/>
          </a:xfrm>
          <a:prstGeom prst="rect">
            <a:avLst/>
          </a:prstGeom>
          <a:solidFill>
            <a:srgbClr val="071B2B">
              <a:alpha val="72000"/>
            </a:srgbClr>
          </a:solidFill>
          <a:ln w="12700">
            <a:solidFill>
              <a:srgbClr val="2F9FC4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4948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5FD3F3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584948" y="1828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Accumulate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584948" y="24688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Local energy E</a:t>
            </a:r>
            <a:r>
              <a:rPr lang="en-US" sz="1300" baseline="-250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L</a:t>
            </a:r>
            <a:r>
              <a:rPr lang="en-US" sz="13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, E</a:t>
            </a:r>
            <a:r>
              <a:rPr lang="en-US" sz="1300" baseline="-250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L</a:t>
            </a:r>
            <a:r>
              <a:rPr lang="en-US" sz="1300" baseline="300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13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and r</a:t>
            </a:r>
            <a:r>
              <a:rPr lang="en-US" sz="1300" baseline="-250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12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358884" y="2331720"/>
            <a:ext cx="274320" cy="274320"/>
          </a:xfrm>
          <a:prstGeom prst="rightArrow">
            <a:avLst/>
          </a:prstGeom>
          <a:solidFill>
            <a:srgbClr val="5FD3F3"/>
          </a:solidFill>
          <a:ln w="12700">
            <a:solidFill>
              <a:srgbClr val="5FD3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65208" y="1143000"/>
            <a:ext cx="1920240" cy="2651760"/>
          </a:xfrm>
          <a:prstGeom prst="rect">
            <a:avLst/>
          </a:prstGeom>
          <a:solidFill>
            <a:srgbClr val="071B2B">
              <a:alpha val="72000"/>
            </a:srgbClr>
          </a:solidFill>
          <a:ln w="12700">
            <a:solidFill>
              <a:srgbClr val="2F9FC4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48088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5FD3F3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9848088" y="1828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Output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848088" y="24688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⟨E⟩, variance σ</a:t>
            </a:r>
            <a:r>
              <a:rPr lang="en-US" sz="1300" baseline="300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13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and mean distance ⟨r</a:t>
            </a:r>
            <a:r>
              <a:rPr lang="en-US" sz="1300" baseline="-250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12</a:t>
            </a:r>
            <a:r>
              <a:rPr lang="en-US" sz="13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⟩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24428" y="4498848"/>
            <a:ext cx="5349240" cy="1554480"/>
          </a:xfrm>
          <a:prstGeom prst="rect">
            <a:avLst/>
          </a:prstGeom>
          <a:solidFill>
            <a:srgbClr val="0E4C6B">
              <a:alpha val="90000"/>
            </a:srgbClr>
          </a:solidFill>
          <a:ln w="12700">
            <a:solidFill>
              <a:srgbClr val="0E4C6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607308" y="4663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8EE3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Outer parameter scans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3721608" y="53035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Scan α (and later β) to find the energy and variance minima, then repeat for ω = 0.01, 0.5 and 1.0.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FC3D6"/>
                </a:solidFill>
                <a:latin typeface="Candara"/>
                <a:ea typeface="Candara"/>
                <a:cs typeface="Candara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1448" y="1600200"/>
            <a:ext cx="73152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0" b="1">
                <a:solidFill>
                  <a:srgbClr val="6FE9F0"/>
                </a:solidFill>
                <a:latin typeface="Candar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4248" y="292608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ndara"/>
              </a:rPr>
              <a:t>Project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4248" y="3931920"/>
            <a:ext cx="82296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0" dirty="0" smtClean="0">
                <a:solidFill>
                  <a:srgbClr val="CFE3EE"/>
                </a:solidFill>
                <a:latin typeface="Candara"/>
              </a:rPr>
              <a:t>energy </a:t>
            </a:r>
            <a:r>
              <a:rPr sz="2200" b="0" dirty="0">
                <a:solidFill>
                  <a:srgbClr val="CFE3EE"/>
                </a:solidFill>
                <a:latin typeface="Candara"/>
              </a:rPr>
              <a:t>scan · </a:t>
            </a:r>
            <a:r>
              <a:rPr sz="2200" b="0" dirty="0" err="1" smtClean="0">
                <a:solidFill>
                  <a:srgbClr val="CFE3EE"/>
                </a:solidFill>
                <a:latin typeface="Candara"/>
              </a:rPr>
              <a:t>Jastrow</a:t>
            </a:r>
            <a:r>
              <a:rPr sz="2200" b="0" dirty="0" smtClean="0">
                <a:solidFill>
                  <a:srgbClr val="CFE3EE"/>
                </a:solidFill>
                <a:latin typeface="Candara"/>
              </a:rPr>
              <a:t> </a:t>
            </a:r>
            <a:r>
              <a:rPr sz="2200" b="0" dirty="0">
                <a:solidFill>
                  <a:srgbClr val="CFE3EE"/>
                </a:solidFill>
                <a:latin typeface="Candara"/>
              </a:rPr>
              <a:t>factor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12648" y="0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Task 5c: First Trial Function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1051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VMC with Ψ</a:t>
            </a:r>
            <a:r>
              <a:rPr lang="en-US" sz="1600" baseline="-250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T1</a:t>
            </a:r>
            <a:r>
              <a:rPr lang="en-US" sz="16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only, total spin S = 0, for quantum dots with different oscillator frequencies.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12648" y="1645920"/>
            <a:ext cx="5349240" cy="1965960"/>
          </a:xfrm>
          <a:prstGeom prst="rect">
            <a:avLst/>
          </a:prstGeom>
          <a:solidFill>
            <a:srgbClr val="071B2B">
              <a:alpha val="72000"/>
            </a:srgbClr>
          </a:solidFill>
          <a:ln w="12700">
            <a:solidFill>
              <a:srgbClr val="2F9FC4">
                <a:alpha val="7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18488" y="1920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Tune the step length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32688" y="2560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Find the optimal δ for each α, giving roughly 50 % accepted moves.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36208" y="1645920"/>
            <a:ext cx="5349240" cy="1965960"/>
          </a:xfrm>
          <a:prstGeom prst="rect">
            <a:avLst/>
          </a:prstGeom>
          <a:solidFill>
            <a:srgbClr val="071B2B">
              <a:alpha val="72000"/>
            </a:srgbClr>
          </a:solidFill>
          <a:ln w="12700">
            <a:solidFill>
              <a:srgbClr val="2F9FC4">
                <a:alpha val="7000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18745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242048" y="1920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Scan the parameter α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556248" y="2560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Plot ⟨E⟩ and the variance against </a:t>
            </a:r>
            <a:r>
              <a:rPr lang="en-US" sz="1400" dirty="0" smtClean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α, locate minima </a:t>
            </a:r>
            <a:r>
              <a:rPr lang="en-US" sz="14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of ⟨E⟩ 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12648" y="3794760"/>
            <a:ext cx="5349240" cy="1965960"/>
          </a:xfrm>
          <a:prstGeom prst="rect">
            <a:avLst/>
          </a:prstGeom>
          <a:solidFill>
            <a:srgbClr val="071B2B">
              <a:alpha val="72000"/>
            </a:srgbClr>
          </a:solidFill>
          <a:ln w="12700">
            <a:solidFill>
              <a:srgbClr val="2F9FC4">
                <a:alpha val="70000"/>
              </a:srgbClr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0233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18488" y="4069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Check stability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932688" y="4709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Vary the number of Monte Carlo </a:t>
            </a:r>
            <a:r>
              <a:rPr lang="en-US" sz="1400" dirty="0" smtClean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cycles.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236208" y="3794760"/>
            <a:ext cx="5349240" cy="1965960"/>
          </a:xfrm>
          <a:prstGeom prst="rect">
            <a:avLst/>
          </a:prstGeom>
          <a:solidFill>
            <a:srgbClr val="071B2B">
              <a:alpha val="72000"/>
            </a:srgbClr>
          </a:solidFill>
          <a:ln w="12700">
            <a:solidFill>
              <a:srgbClr val="2F9FC4">
                <a:alpha val="70000"/>
              </a:srgbClr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402336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242048" y="4069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Mean distance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6556248" y="4709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Compute ⟨r</a:t>
            </a:r>
            <a:r>
              <a:rPr lang="en-US" sz="1400" baseline="-250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12</a:t>
            </a:r>
            <a:r>
              <a:rPr lang="en-US" sz="14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⟩ at the energy minimum for ω = 0.01, 0.5 and 1.0, and comment.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FC3D6"/>
                </a:solidFill>
                <a:latin typeface="Candara"/>
                <a:ea typeface="Candara"/>
                <a:cs typeface="Candara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12648" y="0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Task </a:t>
            </a:r>
            <a:r>
              <a:rPr lang="en-US" sz="3000" b="1" dirty="0" smtClean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: </a:t>
            </a:r>
            <a:r>
              <a:rPr lang="en-US" sz="30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Adding the Jastrow Factor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12648" y="1143000"/>
            <a:ext cx="5394960" cy="4297680"/>
          </a:xfrm>
          <a:prstGeom prst="rect">
            <a:avLst/>
          </a:prstGeom>
          <a:solidFill>
            <a:srgbClr val="071B2B">
              <a:alpha val="72000"/>
            </a:srgbClr>
          </a:solidFill>
          <a:ln w="12700">
            <a:solidFill>
              <a:srgbClr val="2F9FC4">
                <a:alpha val="7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5FD3F3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Optimisation strategy for Ψ</a:t>
            </a:r>
            <a:r>
              <a:rPr lang="en-US" sz="1200" b="1" kern="0" baseline="-25000" dirty="0">
                <a:solidFill>
                  <a:srgbClr val="5FD3F3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82880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Start from the optimal α found in 5c.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Vary β to find the lowest energy.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Change α again, keeping the new β.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Repeat until the energy stops decreasing.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6634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The analytical local energy E</a:t>
            </a:r>
            <a:r>
              <a:rPr lang="en-US" sz="1400" baseline="-250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L2</a:t>
            </a:r>
            <a:r>
              <a:rPr lang="en-US" sz="14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is used throughout.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90488" y="1143000"/>
            <a:ext cx="5394960" cy="2103120"/>
          </a:xfrm>
          <a:prstGeom prst="rect">
            <a:avLst/>
          </a:prstGeom>
          <a:solidFill>
            <a:srgbClr val="071B2B">
              <a:alpha val="72000"/>
            </a:srgbClr>
          </a:solidFill>
          <a:ln w="12700">
            <a:solidFill>
              <a:srgbClr val="2F9FC4">
                <a:alpha val="7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325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Compute at ω = 0.01, 0.5, 1.0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18745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Optimal parameters α and β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Energy ⟨E⟩ and variance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Mean distance ⟨r</a:t>
            </a:r>
            <a:r>
              <a:rPr lang="en-US" sz="1600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12</a:t>
            </a:r>
            <a:r>
              <a:rPr lang="en-US" sz="16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⟩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0488" y="3429000"/>
            <a:ext cx="5394960" cy="2011680"/>
          </a:xfrm>
          <a:prstGeom prst="rect">
            <a:avLst/>
          </a:prstGeom>
          <a:solidFill>
            <a:srgbClr val="0E4C6B">
              <a:alpha val="90000"/>
            </a:srgbClr>
          </a:solidFill>
          <a:ln w="12700">
            <a:solidFill>
              <a:srgbClr val="0E4C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3611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8EE3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Discuss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41148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How important are the correlations from the Jastrow factor?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Compare with Ψ</a:t>
            </a:r>
            <a:r>
              <a:rPr lang="en-US" sz="1600" baseline="-25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T1</a:t>
            </a:r>
            <a:r>
              <a:rPr lang="en-US" sz="16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from 5c and with Project 2.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FC3D6"/>
                </a:solidFill>
                <a:latin typeface="Candara"/>
                <a:ea typeface="Candara"/>
                <a:cs typeface="Candara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IN" dirty="0" smtClean="0"/>
              <a:t>DISCUSS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6686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1448" y="1600200"/>
            <a:ext cx="73152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0" b="1">
                <a:solidFill>
                  <a:srgbClr val="6FE9F0"/>
                </a:solidFill>
                <a:latin typeface="Candara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4248" y="292608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ndara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4248" y="39319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0">
                <a:solidFill>
                  <a:srgbClr val="CFE3EE"/>
                </a:solidFill>
                <a:latin typeface="Candara"/>
              </a:rPr>
              <a:t>Tables, plots, code checks and references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12648" y="0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Results Summary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412942"/>
              </p:ext>
            </p:extLst>
          </p:nvPr>
        </p:nvGraphicFramePr>
        <p:xfrm>
          <a:off x="612648" y="1097280"/>
          <a:ext cx="10972800" cy="3650563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40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15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Quantity</a:t>
                      </a:r>
                      <a:endParaRPr lang="en-US" sz="1400" dirty="0">
                        <a:latin typeface="Candara" charset="0"/>
                        <a:ea typeface="Candara" charset="0"/>
                        <a:cs typeface="Canda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6B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ω = 0.01</a:t>
                      </a:r>
                      <a:endParaRPr lang="en-US" sz="1400" dirty="0">
                        <a:latin typeface="Candara" charset="0"/>
                        <a:ea typeface="Candara" charset="0"/>
                        <a:cs typeface="Canda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6B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ω = 0.5</a:t>
                      </a:r>
                      <a:endParaRPr lang="en-US" sz="1400" dirty="0">
                        <a:latin typeface="Candara" charset="0"/>
                        <a:ea typeface="Candara" charset="0"/>
                        <a:cs typeface="Canda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6B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ω = 1.0</a:t>
                      </a:r>
                      <a:endParaRPr lang="en-US" sz="1400" dirty="0">
                        <a:latin typeface="Candara" charset="0"/>
                        <a:ea typeface="Candara" charset="0"/>
                        <a:cs typeface="Canda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6B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Ψ</a:t>
                      </a:r>
                      <a:r>
                        <a:rPr lang="en-US" sz="1400" baseline="-250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T1</a:t>
                      </a:r>
                      <a:r>
                        <a:rPr lang="en-US" sz="14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: optimal α</a:t>
                      </a:r>
                      <a:endParaRPr lang="en-US" sz="1400" dirty="0">
                        <a:latin typeface="Candara" charset="0"/>
                        <a:ea typeface="Candara" charset="0"/>
                        <a:cs typeface="Canda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0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[__]</a:t>
                      </a:r>
                      <a:endParaRPr lang="en-US" sz="1400" dirty="0">
                        <a:latin typeface="Candara" charset="0"/>
                        <a:ea typeface="Candara" charset="0"/>
                        <a:cs typeface="Canda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0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[__]</a:t>
                      </a:r>
                      <a:endParaRPr lang="en-US" sz="1400" dirty="0">
                        <a:latin typeface="Candara" charset="0"/>
                        <a:ea typeface="Candara" charset="0"/>
                        <a:cs typeface="Canda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0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[__]</a:t>
                      </a:r>
                      <a:endParaRPr lang="en-US" sz="1400" dirty="0">
                        <a:latin typeface="Candara" charset="0"/>
                        <a:ea typeface="Candara" charset="0"/>
                        <a:cs typeface="Canda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0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Ψ</a:t>
                      </a:r>
                      <a:r>
                        <a:rPr lang="en-US" sz="1400" baseline="-250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T1</a:t>
                      </a:r>
                      <a:r>
                        <a:rPr lang="en-US" sz="14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: ⟨E⟩ (a.u.)</a:t>
                      </a:r>
                      <a:endParaRPr lang="en-US" sz="1400" dirty="0">
                        <a:latin typeface="Candara" charset="0"/>
                        <a:ea typeface="Candara" charset="0"/>
                        <a:cs typeface="Canda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624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[__]</a:t>
                      </a:r>
                      <a:endParaRPr lang="en-US" sz="1400" dirty="0">
                        <a:latin typeface="Candara" charset="0"/>
                        <a:ea typeface="Candara" charset="0"/>
                        <a:cs typeface="Canda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624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[__]</a:t>
                      </a:r>
                      <a:endParaRPr lang="en-US" sz="1400" dirty="0">
                        <a:latin typeface="Candara" charset="0"/>
                        <a:ea typeface="Candara" charset="0"/>
                        <a:cs typeface="Canda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624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[__]</a:t>
                      </a:r>
                      <a:endParaRPr lang="en-US" sz="1400" dirty="0">
                        <a:latin typeface="Candara" charset="0"/>
                        <a:ea typeface="Candara" charset="0"/>
                        <a:cs typeface="Canda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624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Ψ</a:t>
                      </a:r>
                      <a:r>
                        <a:rPr lang="en-US" sz="1400" baseline="-250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T1</a:t>
                      </a:r>
                      <a:r>
                        <a:rPr lang="en-US" sz="14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: ⟨r</a:t>
                      </a:r>
                      <a:r>
                        <a:rPr lang="en-US" sz="1400" baseline="-250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12</a:t>
                      </a:r>
                      <a:r>
                        <a:rPr lang="en-US" sz="14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⟩</a:t>
                      </a:r>
                      <a:endParaRPr lang="en-US" sz="1400" dirty="0">
                        <a:latin typeface="Candara" charset="0"/>
                        <a:ea typeface="Candara" charset="0"/>
                        <a:cs typeface="Canda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0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[__]</a:t>
                      </a:r>
                      <a:endParaRPr lang="en-US" sz="1400" dirty="0">
                        <a:latin typeface="Candara" charset="0"/>
                        <a:ea typeface="Candara" charset="0"/>
                        <a:cs typeface="Canda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0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[__]</a:t>
                      </a:r>
                      <a:endParaRPr lang="en-US" sz="1400" dirty="0">
                        <a:latin typeface="Candara" charset="0"/>
                        <a:ea typeface="Candara" charset="0"/>
                        <a:cs typeface="Canda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0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[__]</a:t>
                      </a:r>
                      <a:endParaRPr lang="en-US" sz="1400" dirty="0">
                        <a:latin typeface="Candara" charset="0"/>
                        <a:ea typeface="Candara" charset="0"/>
                        <a:cs typeface="Canda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0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Ψ</a:t>
                      </a:r>
                      <a:r>
                        <a:rPr lang="en-US" sz="1400" baseline="-250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T2</a:t>
                      </a:r>
                      <a:r>
                        <a:rPr lang="en-US" sz="14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: optimal α, β</a:t>
                      </a:r>
                      <a:endParaRPr lang="en-US" sz="1400" dirty="0">
                        <a:latin typeface="Candara" charset="0"/>
                        <a:ea typeface="Candara" charset="0"/>
                        <a:cs typeface="Canda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624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[__], [__]</a:t>
                      </a:r>
                      <a:endParaRPr lang="en-US" sz="1400" dirty="0">
                        <a:latin typeface="Candara" charset="0"/>
                        <a:ea typeface="Candara" charset="0"/>
                        <a:cs typeface="Canda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624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[__], [__]</a:t>
                      </a:r>
                      <a:endParaRPr lang="en-US" sz="1400" dirty="0">
                        <a:latin typeface="Candara" charset="0"/>
                        <a:ea typeface="Candara" charset="0"/>
                        <a:cs typeface="Canda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624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[__], [__]</a:t>
                      </a:r>
                      <a:endParaRPr lang="en-US" sz="1400" dirty="0">
                        <a:latin typeface="Candara" charset="0"/>
                        <a:ea typeface="Candara" charset="0"/>
                        <a:cs typeface="Canda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624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Ψ</a:t>
                      </a:r>
                      <a:r>
                        <a:rPr lang="en-US" sz="1400" baseline="-250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T2</a:t>
                      </a:r>
                      <a:r>
                        <a:rPr lang="en-US" sz="14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: ⟨E⟩ (a.u.)</a:t>
                      </a:r>
                      <a:endParaRPr lang="en-US" sz="1400" dirty="0">
                        <a:latin typeface="Candara" charset="0"/>
                        <a:ea typeface="Candara" charset="0"/>
                        <a:cs typeface="Canda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0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[__]</a:t>
                      </a:r>
                      <a:endParaRPr lang="en-US" sz="1400" dirty="0">
                        <a:latin typeface="Candara" charset="0"/>
                        <a:ea typeface="Candara" charset="0"/>
                        <a:cs typeface="Canda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0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[__]</a:t>
                      </a:r>
                      <a:endParaRPr lang="en-US" sz="1400" dirty="0">
                        <a:latin typeface="Candara" charset="0"/>
                        <a:ea typeface="Candara" charset="0"/>
                        <a:cs typeface="Canda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0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[__]</a:t>
                      </a:r>
                      <a:endParaRPr lang="en-US" sz="1400" dirty="0">
                        <a:latin typeface="Candara" charset="0"/>
                        <a:ea typeface="Candara" charset="0"/>
                        <a:cs typeface="Canda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0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Ψ</a:t>
                      </a:r>
                      <a:r>
                        <a:rPr lang="en-US" sz="1400" baseline="-250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T2</a:t>
                      </a:r>
                      <a:r>
                        <a:rPr lang="en-US" sz="14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: ⟨r</a:t>
                      </a:r>
                      <a:r>
                        <a:rPr lang="en-US" sz="1400" baseline="-250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12</a:t>
                      </a:r>
                      <a:r>
                        <a:rPr lang="en-US" sz="14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⟩</a:t>
                      </a:r>
                      <a:endParaRPr lang="en-US" sz="1400" dirty="0">
                        <a:latin typeface="Candara" charset="0"/>
                        <a:ea typeface="Candara" charset="0"/>
                        <a:cs typeface="Canda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624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[__]</a:t>
                      </a:r>
                      <a:endParaRPr lang="en-US" sz="1400" dirty="0">
                        <a:latin typeface="Candara" charset="0"/>
                        <a:ea typeface="Candara" charset="0"/>
                        <a:cs typeface="Canda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624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[__]</a:t>
                      </a:r>
                      <a:endParaRPr lang="en-US" sz="1400" dirty="0">
                        <a:latin typeface="Candara" charset="0"/>
                        <a:ea typeface="Candara" charset="0"/>
                        <a:cs typeface="Canda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624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ndara" pitchFamily="34" charset="0"/>
                          <a:ea typeface="Candara" pitchFamily="34" charset="-122"/>
                          <a:cs typeface="Candara" pitchFamily="34" charset="-120"/>
                        </a:rPr>
                        <a:t>[__]</a:t>
                      </a:r>
                      <a:endParaRPr lang="en-US" sz="1400" dirty="0">
                        <a:latin typeface="Candara" charset="0"/>
                        <a:ea typeface="Candara" charset="0"/>
                        <a:cs typeface="Candar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9FC4">
                          <a:alpha val="7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624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12648" y="5029200"/>
            <a:ext cx="10972800" cy="777240"/>
          </a:xfrm>
          <a:prstGeom prst="rect">
            <a:avLst/>
          </a:prstGeom>
          <a:solidFill>
            <a:srgbClr val="0E4C6B">
              <a:alpha val="90000"/>
            </a:srgbClr>
          </a:solidFill>
          <a:ln w="12700">
            <a:solidFill>
              <a:srgbClr val="0E4C6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50292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Benchmarks: non-interacting E = 3ω (3 a.u. at ω = 1). Entries in brackets are placeholders for your own VMC output.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FC3D6"/>
                </a:solidFill>
                <a:latin typeface="Candara"/>
                <a:ea typeface="Candara"/>
                <a:cs typeface="Candara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12648" y="0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Plots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12648" y="1280160"/>
            <a:ext cx="5349240" cy="3474720"/>
          </a:xfrm>
          <a:prstGeom prst="rect">
            <a:avLst/>
          </a:prstGeom>
          <a:solidFill>
            <a:srgbClr val="071B2B">
              <a:alpha val="60000"/>
            </a:srgbClr>
          </a:solidFill>
          <a:ln w="25400">
            <a:solidFill>
              <a:srgbClr val="6FB7D1"/>
            </a:solidFill>
            <a:prstDash val="dash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508" y="20116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95528" y="29260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⟨E⟩ and variance against α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95528" y="37947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Replace with your figure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36208" y="1280160"/>
            <a:ext cx="5349240" cy="3474720"/>
          </a:xfrm>
          <a:prstGeom prst="rect">
            <a:avLst/>
          </a:prstGeom>
          <a:solidFill>
            <a:srgbClr val="071B2B">
              <a:alpha val="60000"/>
            </a:srgbClr>
          </a:solidFill>
          <a:ln w="25400">
            <a:solidFill>
              <a:srgbClr val="6FB7D1"/>
            </a:solidFill>
            <a:prstDash val="dash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068" y="2011680"/>
            <a:ext cx="731520" cy="7315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19088" y="29260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Energy against Monte Carlo cycles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6419088" y="37947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Replace with your figure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612648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9D6E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Label every axis and give each figure a caption, as the project report guidelines ask.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FC3D6"/>
                </a:solidFill>
                <a:latin typeface="Candara"/>
                <a:ea typeface="Candara"/>
                <a:cs typeface="Candara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5938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12648" y="0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Code Checks and References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12648" y="1143000"/>
            <a:ext cx="5394960" cy="4389120"/>
          </a:xfrm>
          <a:prstGeom prst="rect">
            <a:avLst/>
          </a:prstGeom>
          <a:solidFill>
            <a:srgbClr val="071B2B">
              <a:alpha val="72000"/>
            </a:srgbClr>
          </a:solidFill>
          <a:ln w="12700">
            <a:solidFill>
              <a:srgbClr val="2F9FC4">
                <a:alpha val="7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Checks built into the code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92024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Non-interacting limit: ⟨E⟩ = 3ω, which is 3 a.u. at ω = 1.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At α = 1 without Coulomb term the local energy is constant, so the variance is zero.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Interacting case at ω = 1: compare with 3.558 a.u. </a:t>
            </a:r>
            <a:endParaRPr lang="en-US" sz="1500" dirty="0" smtClean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 smtClean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Acceptance rate close to 50 % after tuning δ.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90488" y="1143000"/>
            <a:ext cx="5394960" cy="1920240"/>
          </a:xfrm>
          <a:prstGeom prst="rect">
            <a:avLst/>
          </a:prstGeom>
          <a:solidFill>
            <a:srgbClr val="071B2B">
              <a:alpha val="72000"/>
            </a:srgbClr>
          </a:solidFill>
          <a:ln w="12700">
            <a:solidFill>
              <a:srgbClr val="2F9FC4">
                <a:alpha val="7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325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Deliverables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8288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PDF report with discussion, figures and tables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Source code on GitHub, with unit tests and a folder of selected results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90488" y="3246120"/>
            <a:ext cx="5394960" cy="2286000"/>
          </a:xfrm>
          <a:prstGeom prst="rect">
            <a:avLst/>
          </a:prstGeom>
          <a:solidFill>
            <a:srgbClr val="0E4C6B">
              <a:alpha val="90000"/>
            </a:srgbClr>
          </a:solidFill>
          <a:ln w="12700">
            <a:solidFill>
              <a:srgbClr val="0E4C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34290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8EE3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9319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M. Taut, Phys. Rev. A 48, 3561 (1993)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 smtClean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https:www2.ph.ed.ac.uk/~</a:t>
            </a:r>
            <a:r>
              <a:rPr lang="en-US" sz="1400" dirty="0" err="1" smtClean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gja</a:t>
            </a:r>
            <a:r>
              <a:rPr lang="en-US" sz="1400" dirty="0" smtClean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/</a:t>
            </a:r>
            <a:r>
              <a:rPr lang="en-US" sz="1400" dirty="0" err="1" smtClean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qp</a:t>
            </a:r>
            <a:r>
              <a:rPr lang="en-US" sz="1400" dirty="0" smtClean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/qp8.pdf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 smtClean="0">
                <a:solidFill>
                  <a:srgbClr val="FFFFFF"/>
                </a:solidFill>
                <a:latin typeface="Candara" pitchFamily="34" charset="0"/>
              </a:rPr>
              <a:t>https://journals.aps.org/pra/pdf/10.1103/PhysRevA.48.3561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FC3D6"/>
                </a:solidFill>
                <a:latin typeface="Candara"/>
                <a:ea typeface="Candara"/>
                <a:cs typeface="Candara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27048" y="210312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1527048" y="36576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rgbClr val="6FE9F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Any Questions?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527048" y="45720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000" dirty="0" smtClean="0">
                <a:solidFill>
                  <a:srgbClr val="CFE3EE"/>
                </a:solidFill>
                <a:latin typeface="Candara" pitchFamily="34" charset="0"/>
                <a:cs typeface="Candara" pitchFamily="34" charset="-120"/>
              </a:rPr>
              <a:t>1] </a:t>
            </a:r>
            <a:r>
              <a:rPr lang="en-US" sz="2000" dirty="0">
                <a:solidFill>
                  <a:srgbClr val="CFE3EE"/>
                </a:solidFill>
                <a:latin typeface="Candara" pitchFamily="34" charset="0"/>
                <a:cs typeface="Candara" pitchFamily="34" charset="-120"/>
              </a:rPr>
              <a:t>Amey S. </a:t>
            </a:r>
            <a:r>
              <a:rPr lang="en-US" sz="2000" dirty="0" smtClean="0">
                <a:solidFill>
                  <a:srgbClr val="CFE3EE"/>
                </a:solidFill>
                <a:latin typeface="Candara" pitchFamily="34" charset="0"/>
                <a:cs typeface="Candara" pitchFamily="34" charset="-120"/>
              </a:rPr>
              <a:t>Yadav</a:t>
            </a:r>
            <a:r>
              <a:rPr lang="en-US" sz="2000" dirty="0" smtClean="0"/>
              <a:t>                                 </a:t>
            </a:r>
            <a:r>
              <a:rPr lang="en-US" sz="2000" dirty="0" smtClean="0">
                <a:solidFill>
                  <a:srgbClr val="CFE3EE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r>
              <a:rPr lang="en-US" sz="2000" dirty="0" smtClean="0">
                <a:solidFill>
                  <a:srgbClr val="CFE3EE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] </a:t>
            </a:r>
            <a:r>
              <a:rPr lang="en-US" sz="2000" dirty="0" err="1">
                <a:solidFill>
                  <a:srgbClr val="CFE3EE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Atharva</a:t>
            </a:r>
            <a:r>
              <a:rPr lang="en-US" sz="2000" dirty="0">
                <a:solidFill>
                  <a:srgbClr val="CFE3EE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</a:t>
            </a:r>
            <a:r>
              <a:rPr lang="en-US" sz="2000" dirty="0" err="1" smtClean="0">
                <a:solidFill>
                  <a:srgbClr val="CFE3EE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Goyal</a:t>
            </a:r>
            <a:endParaRPr lang="en-US" sz="2000" dirty="0">
              <a:solidFill>
                <a:srgbClr val="CFE3EE"/>
              </a:solidFill>
              <a:latin typeface="Candara" pitchFamily="34" charset="0"/>
              <a:ea typeface="Candara" pitchFamily="34" charset="-122"/>
              <a:cs typeface="Candara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ndara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Candara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ndara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Candara"/>
        <a:font script="Hebr" typeface="Candar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ndara"/>
        <a:font script="Uigh" typeface="Microsoft Uighur"/>
        <a:font script="Geor" typeface="Sylfaen"/>
        <a:font script="Armn" typeface="Candara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ndara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ndara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Candara"/>
        <a:font script="Hebr" typeface="Candar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ndar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1312</Words>
  <Application>Microsoft Office PowerPoint</Application>
  <PresentationFormat>Widescreen</PresentationFormat>
  <Paragraphs>214</Paragraphs>
  <Slides>22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Candara</vt:lpstr>
      <vt:lpstr>Office Theme</vt:lpstr>
      <vt:lpstr>PowerPoint Presentation</vt:lpstr>
      <vt:lpstr>Index</vt:lpstr>
      <vt:lpstr>PowerPoint Presentation</vt:lpstr>
      <vt:lpstr>Problem Statement                                                                                                           WE CALCULATE</vt:lpstr>
      <vt:lpstr>The Physical System</vt:lpstr>
      <vt:lpstr>PowerPoint Presentation</vt:lpstr>
      <vt:lpstr>Non-Interacting Benchmark</vt:lpstr>
      <vt:lpstr>Trial Wave Functions</vt:lpstr>
      <vt:lpstr>Local Energy</vt:lpstr>
      <vt:lpstr>PowerPoint Presentation</vt:lpstr>
      <vt:lpstr>Variational Monte Carlo</vt:lpstr>
      <vt:lpstr>Algorithm Overview</vt:lpstr>
      <vt:lpstr>PowerPoint Presentation</vt:lpstr>
      <vt:lpstr>Task 5c: First Trial Function</vt:lpstr>
      <vt:lpstr>Task : Adding the Jastrow Factor</vt:lpstr>
      <vt:lpstr>DISCUSS</vt:lpstr>
      <vt:lpstr>PowerPoint Presentation</vt:lpstr>
      <vt:lpstr>Results Summary</vt:lpstr>
      <vt:lpstr>Plots</vt:lpstr>
      <vt:lpstr>PowerPoint Presentation</vt:lpstr>
      <vt:lpstr>Code Checks and References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Monte Carlo of Confined Electrons</dc:title>
  <dc:subject>PptxGenJS Presentation</dc:subject>
  <dc:creator>PptxGenJS</dc:creator>
  <cp:lastModifiedBy>Amey yadav</cp:lastModifiedBy>
  <cp:revision>7</cp:revision>
  <dcterms:created xsi:type="dcterms:W3CDTF">2026-10-29T10:36:33Z</dcterms:created>
  <dcterms:modified xsi:type="dcterms:W3CDTF">2026-10-31T05:57:59Z</dcterms:modified>
</cp:coreProperties>
</file>