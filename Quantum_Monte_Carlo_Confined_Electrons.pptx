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16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384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23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 smtClean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5 · FALL SEMESTER 2020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 smtClean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</a:t>
            </a:r>
            <a:r>
              <a:rPr lang="en-US" sz="38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of Confined Electrons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 Monte Carlo for a two-electron quantum dot in three dimensions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Group: </a:t>
            </a:r>
            <a:r>
              <a:rPr lang="en-US" sz="1500" dirty="0" smtClean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1] </a:t>
            </a:r>
            <a:r>
              <a:rPr lang="en-US" sz="1500" dirty="0" err="1" smtClean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Atharva</a:t>
            </a:r>
            <a:r>
              <a:rPr lang="en-US" sz="1500" dirty="0" smtClean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 smtClean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Goyal</a:t>
            </a:r>
            <a:endParaRPr lang="en-US" sz="1500" dirty="0" smtClean="0">
              <a:solidFill>
                <a:srgbClr val="C9D8D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C9D8D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500" dirty="0" smtClean="0">
                <a:solidFill>
                  <a:srgbClr val="C9D8D5"/>
                </a:solidFill>
                <a:latin typeface="Arial" pitchFamily="34" charset="0"/>
                <a:cs typeface="Arial" pitchFamily="34" charset="-120"/>
              </a:rPr>
              <a:t>           2] Amey S. Yadav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2103120"/>
            <a:ext cx="4754880" cy="2011680"/>
          </a:xfrm>
          <a:custGeom>
            <a:avLst/>
            <a:gdLst/>
            <a:ahLst/>
            <a:cxnLst/>
            <a:rect l="l" t="t" r="r" b="b"/>
            <a:pathLst>
              <a:path w="4754880" h="2011680">
                <a:moveTo>
                  <a:pt x="0" y="0"/>
                </a:moveTo>
                <a:lnTo>
                  <a:pt x="118872" y="196139"/>
                </a:lnTo>
                <a:lnTo>
                  <a:pt x="237744" y="382219"/>
                </a:lnTo>
                <a:lnTo>
                  <a:pt x="356616" y="558241"/>
                </a:lnTo>
                <a:lnTo>
                  <a:pt x="475488" y="724205"/>
                </a:lnTo>
                <a:lnTo>
                  <a:pt x="594360" y="880110"/>
                </a:lnTo>
                <a:lnTo>
                  <a:pt x="713232" y="1025957"/>
                </a:lnTo>
                <a:lnTo>
                  <a:pt x="832104" y="1161745"/>
                </a:lnTo>
                <a:lnTo>
                  <a:pt x="950976" y="1287475"/>
                </a:lnTo>
                <a:lnTo>
                  <a:pt x="1069848" y="1403147"/>
                </a:lnTo>
                <a:lnTo>
                  <a:pt x="1188720" y="1508760"/>
                </a:lnTo>
                <a:lnTo>
                  <a:pt x="1307592" y="1604315"/>
                </a:lnTo>
                <a:lnTo>
                  <a:pt x="1426464" y="1689811"/>
                </a:lnTo>
                <a:lnTo>
                  <a:pt x="1545336" y="1765249"/>
                </a:lnTo>
                <a:lnTo>
                  <a:pt x="1664208" y="1830629"/>
                </a:lnTo>
                <a:lnTo>
                  <a:pt x="1783080" y="1885950"/>
                </a:lnTo>
                <a:lnTo>
                  <a:pt x="1901952" y="1931213"/>
                </a:lnTo>
                <a:lnTo>
                  <a:pt x="2020824" y="1966417"/>
                </a:lnTo>
                <a:lnTo>
                  <a:pt x="2139696" y="1991563"/>
                </a:lnTo>
                <a:lnTo>
                  <a:pt x="2258568" y="2006651"/>
                </a:lnTo>
                <a:lnTo>
                  <a:pt x="2377440" y="2011680"/>
                </a:lnTo>
                <a:lnTo>
                  <a:pt x="2496312" y="2006651"/>
                </a:lnTo>
                <a:lnTo>
                  <a:pt x="2615184" y="1991563"/>
                </a:lnTo>
                <a:lnTo>
                  <a:pt x="2734056" y="1966417"/>
                </a:lnTo>
                <a:lnTo>
                  <a:pt x="2852928" y="1931213"/>
                </a:lnTo>
                <a:lnTo>
                  <a:pt x="2971800" y="1885950"/>
                </a:lnTo>
                <a:lnTo>
                  <a:pt x="3090672" y="1830629"/>
                </a:lnTo>
                <a:lnTo>
                  <a:pt x="3209544" y="1765249"/>
                </a:lnTo>
                <a:lnTo>
                  <a:pt x="3328416" y="1689811"/>
                </a:lnTo>
                <a:lnTo>
                  <a:pt x="3447288" y="1604315"/>
                </a:lnTo>
                <a:lnTo>
                  <a:pt x="3566160" y="1508760"/>
                </a:lnTo>
                <a:lnTo>
                  <a:pt x="3685032" y="1403147"/>
                </a:lnTo>
                <a:lnTo>
                  <a:pt x="3803904" y="1287475"/>
                </a:lnTo>
                <a:lnTo>
                  <a:pt x="3922776" y="1161745"/>
                </a:lnTo>
                <a:lnTo>
                  <a:pt x="4041648" y="1025957"/>
                </a:lnTo>
                <a:lnTo>
                  <a:pt x="4160520" y="880110"/>
                </a:lnTo>
                <a:lnTo>
                  <a:pt x="4279392" y="724205"/>
                </a:lnTo>
                <a:lnTo>
                  <a:pt x="4398264" y="558241"/>
                </a:lnTo>
                <a:lnTo>
                  <a:pt x="4517136" y="382219"/>
                </a:lnTo>
                <a:lnTo>
                  <a:pt x="4636008" y="196139"/>
                </a:lnTo>
                <a:lnTo>
                  <a:pt x="4754880" y="0"/>
                </a:lnTo>
              </a:path>
            </a:pathLst>
          </a:custGeom>
          <a:solidFill>
            <a:srgbClr val="223841">
              <a:alpha val="0"/>
            </a:srgbClr>
          </a:solidFill>
          <a:ln w="38100">
            <a:solidFill>
              <a:srgbClr val="F5A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11312" y="3493008"/>
            <a:ext cx="438912" cy="438912"/>
          </a:xfrm>
          <a:prstGeom prst="ellipse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11312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37776" y="3493008"/>
            <a:ext cx="438912" cy="438912"/>
          </a:xfrm>
          <a:prstGeom prst="ellipse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37776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32520" y="3712464"/>
            <a:ext cx="822960" cy="0"/>
          </a:xfrm>
          <a:prstGeom prst="line">
            <a:avLst/>
          </a:prstGeom>
          <a:noFill/>
          <a:ln w="25400">
            <a:solidFill>
              <a:srgbClr val="C9D8D5"/>
            </a:solidFill>
            <a:prstDash val="dash"/>
            <a:headEnd type="triangl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77824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1/r₁₂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½ ω² r²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709928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09928" y="18562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Aim, goals and the two-electron quantum dot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11430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333488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33488" y="18562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Benchmark, trial wave functions, local energy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27432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3063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70992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709928" y="3456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 Monte Carlo and Metropolis sampling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6208" y="27432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0528" y="3063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Tasks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33488" y="3456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5c energy scan · 5d Jastrow factor · 5e virial theorem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" y="43434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4663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4617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709928" y="5056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plots, code checks and references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6208" y="43434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4663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7333488" y="4617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33488" y="5056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26364" y="14322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6364" y="2097845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 Monte Carlo (VMC)</a:t>
            </a:r>
            <a:r>
              <a:rPr lang="en-US" sz="20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study </a:t>
            </a: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electrons</a:t>
            </a:r>
            <a:r>
              <a:rPr lang="en-US" sz="20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confined in a three-dimensional harmonic oscillator trap, a </a:t>
            </a:r>
            <a:r>
              <a:rPr lang="en-US" sz="20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dot</a:t>
            </a:r>
            <a:r>
              <a:rPr lang="en-US" sz="20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including the repulsive Coulomb interaction.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3429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89888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8932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Ground-state energy and its variance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0" y="118872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3898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91540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distance ⟨r₁₂⟩ between the electrons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760720" y="283464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03580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98932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and potential energies ⟨T⟩, ⟨V⟩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686800" y="283464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303580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1540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electron correlation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12648" y="470916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dots are a lively research area in condensed matter and materials science, with applications from quantum circuits to solar cells and nanomedicine.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HAMILTONIAN, N = 2 ELECTRONS IN 3D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−½∇₁² − ½∇₂² + ½ω²(r₁² + r₂²) + 1/r₁₂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2648" y="278892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Oscillator part H₀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−½∇² + ½ω²r² for each electron. This part is solved exactly.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1688" y="278892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Repulsion H₁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Coulomb term 1/r₁₂, with r₁₂ = |r₁ − r₂|, couples the two electrons.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10728" y="278892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units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ħ = c = e = m = 1, so distances are dimensionless and energies are in a.u.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5074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Non-Interacting Benchmark (5a)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6583680" cy="2103120"/>
          </a:xfrm>
          <a:prstGeom prst="roundRect">
            <a:avLst>
              <a:gd name="adj" fmla="val 4348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electron in the trap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φ₀₀₀ = A exp[−ω(x² + y² + z²)/2]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ε = ω(nx + ny + nz + 3/2). The lowest state, nx = ny = nz = 0, has ε = 3ω/2.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3429000"/>
            <a:ext cx="6583680" cy="2103120"/>
          </a:xfrm>
          <a:prstGeom prst="roundRect">
            <a:avLst>
              <a:gd name="adj" fmla="val 4348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electrons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69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Φ(r₁, r₂) = C exp[−ω(r₁² + r₂²)/2]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091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Ground-state energy E = 3ω, exactly 3 a.u. at ω = 1. This is the first benchmark for the code.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06640" y="1143000"/>
            <a:ext cx="4178808" cy="4389120"/>
          </a:xfrm>
          <a:prstGeom prst="roundRect">
            <a:avLst>
              <a:gd name="adj" fmla="val 2188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7373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0</a:t>
            </a:r>
            <a:endParaRPr lang="en-US" sz="58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017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spatial wave function is symmetric under exchange, so the spin part must be antisymmetric: a singlet.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4206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electrons occupy the same lowest orbital, so the Pauli principle requires opposite spins.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Wave Functions (5b)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FUNCTION 1 · NO CORRELATION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ΨT1 = C exp[−αω(r₁² + r₂²)/2]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51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variational parameter, α. The function depends only on r₁ and r₂, so it cannot describe the correlation between the electrons.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2688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6D9B8"/>
          </a:solidFill>
          <a:ln w="12700">
            <a:solidFill>
              <a:srgbClr val="F6D9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Cusp condition: not satisfied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0488" y="11430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FUNCTION 2 · JASTROW FACTOR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ΨT2 = ΨT1 · exp[r₁₂ / (2(1 + βr₁₂))]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2651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variational parameters, α and β. As r₁₂ → 0 the logarithmic derivative of the Jastrow factor tends to 1/2, the cusp value for electrons with opposite spins.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10528" y="4663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2700">
            <a:solidFill>
              <a:srgbClr val="CFE8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Cusp condition: satisfied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Energy (5b)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ΨT1 WITHOUT COULOMB TERM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EL1 = ½ω²(r₁² + r₂²)(1 − α²) + 3αω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the exact result 3ω at α = 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11430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ΨT1 WITH COULOMB REPULSION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EL1 = ½ω²(r₁² + r₂²)(1 − α²) + 3αω + 1/r₁₂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for judging the second trial function.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3246120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429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ΨT2 WITH COULOMB REPULSION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40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EL2 = EL1 + 1/(2(1 + βr₁₂)²) · [ αωr₁₂ − 1/(2(1 + βr₁₂)²) − 2/r₁₂ + 2β/(1 + βr₁₂) ]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expressions are programmed to compute the energy expectation value and the energy variance.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Variational Monte Carlo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EXPECTATION VALUE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⟨H⟩ = ∫ dR ΨT* H ΨT / ∫ dR ΨT* ΨT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⟨H⟩ = ∫ P(R) EL(R) dR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P(R) = |ΨT|² / ∫ |ΨT|² dR is the probability density, and EL = HΨT / ΨT is the local energy.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σ² = ⟨EL²⟩ − ⟨EL⟩²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1143000"/>
            <a:ext cx="5824728" cy="3200400"/>
          </a:xfrm>
          <a:prstGeom prst="roundRect">
            <a:avLst>
              <a:gd name="adj" fmla="val 2857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325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Metropolis algorithm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87452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move R′ = R + δ · r, with r a uniform random number.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it with probability min[1, |ΨT(R′)|² / |ΨT(R)|²].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EL and EL² to the running sums.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for all Monte Carlo cycles and average.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4526280"/>
            <a:ext cx="5824728" cy="1097280"/>
          </a:xfrm>
          <a:prstGeom prst="roundRect">
            <a:avLst>
              <a:gd name="adj" fmla="val 8333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45262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the step length δ for each α so that about 50 % of the moves are accepted.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552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9552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ω, α, β and the number of Monte Carlo cycles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9464" y="2331720"/>
            <a:ext cx="274320" cy="274320"/>
          </a:xfrm>
          <a:prstGeom prst="rightArrow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75788" y="1143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5866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05866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05866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start positions R and step length 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32604" y="2331720"/>
            <a:ext cx="274320" cy="274320"/>
          </a:xfrm>
          <a:prstGeom prst="rightArrow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1143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2180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Metropolis loop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R′, then accept or reject with the |Ψ|² ratio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95744" y="2331720"/>
            <a:ext cx="274320" cy="274320"/>
          </a:xfrm>
          <a:prstGeom prst="rightArrow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2068" y="1143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494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58494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58494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energy EL, EL², r₁₂, ⟨T⟩ and ⟨V⟩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58884" y="2331720"/>
            <a:ext cx="274320" cy="274320"/>
          </a:xfrm>
          <a:prstGeom prst="rightArrow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65208" y="1143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4808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84808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84808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⟨E⟩, variance σ² and mean distance ⟨r₁₂⟩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" y="406908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2688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parameter scans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α (and later β) to find the energy and variance minima, then repeat for ω = 0.01, 0.5 and 1.0.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36208" y="406908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6248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code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556248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classes for the wave function, the local energy, the Metropolis sampler and the plotting.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5c: First Trial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VMC with ΨT1 only, total spin S = 0, for quantum dots with different oscillator frequencies.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12648" y="1645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18488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the step length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optimal δ for each α, giving roughly 50 % accepted moves.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36208" y="1645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42048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parameter α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5624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⟨E⟩ and the variance against α, and locate both minima.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0233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18488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stability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3268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the number of Monte Carlo cycles. Compare with Project 2 after adding the 1.5 a.u. centre-of-mass energy.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36208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0233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42048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distance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55624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⟨r₁₂⟩ at the energy minimum for ω = 0.01, 0.5 and 1.0, and comment.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5d: Adding the Jastrow Factor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STRATEGY FOR ΨT2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optimal α found in 5c.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β to find the lowest energy.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α again, keeping the new β.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the energy stops decreasing.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analytical local energy EL2 is used throughout.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0488" y="11430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325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 ω = 0.01, 0.5, 1.0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parameters α and β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⟨E⟩ and variance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distance ⟨r₁₂⟩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0488" y="34290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114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important are the correlations from the Jastrow factor?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ΨT1 from 5c and with Project 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5e: Virial Theorem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4389120" cy="4297680"/>
          </a:xfrm>
          <a:prstGeom prst="roundRect">
            <a:avLst>
              <a:gd name="adj" fmla="val 2128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HARMONIC OSCILLATOR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⟨T⟩ = ⟨V⟩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expectation values of the kinetic and potential energy are proportional.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57800" y="1143000"/>
            <a:ext cx="6327648" cy="1280160"/>
          </a:xfrm>
          <a:prstGeom prst="roundRect">
            <a:avLst>
              <a:gd name="adj" fmla="val 7143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32120" y="114300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1430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optimal results for ω = 0.01, 0.5 and 1.0, and add further values in [0.01, 1].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7800" y="2651760"/>
            <a:ext cx="6327648" cy="1280160"/>
          </a:xfrm>
          <a:prstGeom prst="roundRect">
            <a:avLst>
              <a:gd name="adj" fmla="val 7143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0" y="26517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6517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⟨T⟩ and ⟨V⟩ for N = 2, with and without the repulsive electron-electron interaction.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57800" y="4160520"/>
            <a:ext cx="6327648" cy="1280160"/>
          </a:xfrm>
          <a:prstGeom prst="roundRect">
            <a:avLst>
              <a:gd name="adj" fmla="val 7143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416052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1605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⟨T⟩/⟨V⟩ as a function of ω and comment on the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4F7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4F7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ω = 0.01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4F7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ω = 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4F7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ω = 1.0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ΨT1: optimal 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ΨT1: ⟨E⟩ (a.u.)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ΨT1: ⟨r₁₂⟩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ΨT2: optimal α, 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[__], 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[__], 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[__], 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ΨT2: ⟨E⟩ (a.u.)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ΨT2: ⟨r₁₂⟩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2 + 1.5 a.u. (a.u.)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3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12648" y="502920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50292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Benchmarks: non-interacting E = 3ω (3 a.u. at ω = 1). Entries in brackets are placeholders for your own VMC output.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28016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2F5F4"/>
          </a:solidFill>
          <a:ln w="25400">
            <a:solidFill>
              <a:srgbClr val="9FB2AE"/>
            </a:solidFill>
            <a:prstDash val="dash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20116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5528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⟨E⟩ and variance against α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95528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figure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61688" y="128016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2F5F4"/>
          </a:solidFill>
          <a:ln w="25400">
            <a:solidFill>
              <a:srgbClr val="9FB2AE"/>
            </a:solidFill>
            <a:prstDash val="dash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01168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44568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against Monte Carlo cycles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544568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figure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110728" y="128016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2F5F4"/>
          </a:solidFill>
          <a:ln w="25400">
            <a:solidFill>
              <a:srgbClr val="9FB2AE"/>
            </a:solidFill>
            <a:prstDash val="dash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201168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93608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⟨T⟩/⟨V⟩ against ω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293608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figure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1264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every axis and give each figure a caption, as the project report guidelines ask.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Checks and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built into the 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Non-interacting limit: ⟨E⟩ = 3ω, which is 3 a.u. at ω = 1.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α = 1 without Coulomb term the local energy is constant, so the variance is zero.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Interacting case at ω = 1: compare with 3.558 a.u. and with Project 2 plus 1.5 a.u.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rate close to 50 % after tuning δ.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0488" y="11430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EF2F1"/>
          </a:solidFill>
          <a:ln w="12700">
            <a:solidFill>
              <a:srgbClr val="D3DC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325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with discussion, figures and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on GitHub, with unit tests and a folder of selected results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0488" y="32461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223841"/>
          </a:solidFill>
          <a:ln w="12700">
            <a:solidFill>
              <a:srgbClr val="2238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9319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Taut, Phys. Rev. A 48, 3561 (1993)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L. Hammond, W. A. Lester and P. J. Reynolds, Monte Carlo Methods in Ab Initio Quantum Chemistry, World Scientific (1994)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F5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1] </a:t>
            </a:r>
            <a:r>
              <a:rPr lang="en-US" sz="1500" dirty="0" err="1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Atharva</a:t>
            </a:r>
            <a:r>
              <a:rPr lang="en-US" sz="1500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Goyal</a:t>
            </a:r>
            <a:endParaRPr lang="en-US" sz="1500" dirty="0">
              <a:solidFill>
                <a:srgbClr val="C9D8D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500" dirty="0" smtClean="0">
                <a:solidFill>
                  <a:srgbClr val="C9D8D5"/>
                </a:solidFill>
                <a:latin typeface="Arial" pitchFamily="34" charset="0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C9D8D5"/>
                </a:solidFill>
                <a:latin typeface="Arial" pitchFamily="34" charset="0"/>
                <a:cs typeface="Arial" pitchFamily="34" charset="-120"/>
              </a:rPr>
              <a:t>] Amey S. Yadav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1592</Words>
  <Application>Microsoft Office PowerPoint</Application>
  <PresentationFormat>Widescreen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Index</vt:lpstr>
      <vt:lpstr>Problem Statement</vt:lpstr>
      <vt:lpstr>The Physical System</vt:lpstr>
      <vt:lpstr>Non-Interacting Benchmark (5a)</vt:lpstr>
      <vt:lpstr>Trial Wave Functions (5b)</vt:lpstr>
      <vt:lpstr>Local Energy (5b)</vt:lpstr>
      <vt:lpstr>Variational Monte Carlo</vt:lpstr>
      <vt:lpstr>Algorithm Overview</vt:lpstr>
      <vt:lpstr>Task 5c: First Trial Function</vt:lpstr>
      <vt:lpstr>Task 5d: Adding the Jastrow Factor</vt:lpstr>
      <vt:lpstr>Task 5e: Virial Theorem</vt:lpstr>
      <vt:lpstr>Results Summary</vt:lpstr>
      <vt:lpstr>Plots</vt:lpstr>
      <vt:lpstr>Code Checks and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Monte Carlo of Confined Electrons</dc:title>
  <dc:subject>PptxGenJS Presentation</dc:subject>
  <dc:creator>PptxGenJS</dc:creator>
  <cp:lastModifiedBy>Amey yadav</cp:lastModifiedBy>
  <cp:revision>3</cp:revision>
  <dcterms:created xsi:type="dcterms:W3CDTF">2026-10-29T10:36:33Z</dcterms:created>
  <dcterms:modified xsi:type="dcterms:W3CDTF">2026-10-29T10:46:08Z</dcterms:modified>
</cp:coreProperties>
</file>